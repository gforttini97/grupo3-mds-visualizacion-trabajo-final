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embeddedFontLst>
    <p:embeddedFont>
      <p:font typeface="Nunito" pitchFamily="2" charset="0"/>
      <p:regular r:id="rId15"/>
      <p:bold r:id="rId16"/>
      <p:italic r:id="rId17"/>
      <p:boldItalic r:id="rId1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2" d="100"/>
          <a:sy n="92" d="100"/>
        </p:scale>
        <p:origin x="1186" y="29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d23fdc57c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d23fdc57c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 name="Google Shape;13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d3718d1d94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d3718d1d94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96af2e8d9d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96af2e8d9d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96af2e8d9d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96af2e8d9d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96b10cbb2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96b10cbb2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96b10cbb24_3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96b10cbb24_3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96b10cbb24_3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396b10cbb24_3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d38abcf28d_0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3d38abcf28d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96b10cbb24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96b10cbb24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396b10cbb24_0_5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9" name="Google Shape;209;g396b10cbb24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96b2673263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396b2673263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6"/>
        </a:solidFill>
        <a:effectLst/>
      </p:bgPr>
    </p:bg>
    <p:spTree>
      <p:nvGrpSpPr>
        <p:cNvPr id="1" name="Shape 9"/>
        <p:cNvGrpSpPr/>
        <p:nvPr/>
      </p:nvGrpSpPr>
      <p:grpSpPr>
        <a:xfrm>
          <a:off x="0" y="0"/>
          <a:ext cx="0" cy="0"/>
          <a:chOff x="0" y="0"/>
          <a:chExt cx="0" cy="0"/>
        </a:xfrm>
      </p:grpSpPr>
      <p:sp>
        <p:nvSpPr>
          <p:cNvPr id="10" name="Google Shape;10;p2"/>
          <p:cNvSpPr/>
          <p:nvPr/>
        </p:nvSpPr>
        <p:spPr>
          <a:xfrm>
            <a:off x="31" y="2824500"/>
            <a:ext cx="7370400" cy="23190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flipH="1">
            <a:off x="3582600" y="1550700"/>
            <a:ext cx="5561400" cy="35928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10800000">
            <a:off x="5058905" y="0"/>
            <a:ext cx="4085100" cy="20526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20327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4" name="Google Shape;14;p2"/>
          <p:cNvGrpSpPr/>
          <p:nvPr/>
        </p:nvGrpSpPr>
        <p:grpSpPr>
          <a:xfrm>
            <a:off x="255200" y="592"/>
            <a:ext cx="2250363" cy="1044300"/>
            <a:chOff x="255200" y="592"/>
            <a:chExt cx="2250363" cy="1044300"/>
          </a:xfrm>
        </p:grpSpPr>
        <p:sp>
          <p:nvSpPr>
            <p:cNvPr id="15" name="Google Shape;15;p2"/>
            <p:cNvSpPr/>
            <p:nvPr/>
          </p:nvSpPr>
          <p:spPr>
            <a:xfrm>
              <a:off x="764063"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509632"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55200" y="592"/>
              <a:ext cx="1741500" cy="10443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8" name="Google Shape;18;p2"/>
          <p:cNvGrpSpPr/>
          <p:nvPr/>
        </p:nvGrpSpPr>
        <p:grpSpPr>
          <a:xfrm>
            <a:off x="905395" y="592"/>
            <a:ext cx="2250363" cy="1044300"/>
            <a:chOff x="905395" y="592"/>
            <a:chExt cx="2250363" cy="1044300"/>
          </a:xfrm>
        </p:grpSpPr>
        <p:sp>
          <p:nvSpPr>
            <p:cNvPr id="19" name="Google Shape;19;p2"/>
            <p:cNvSpPr/>
            <p:nvPr/>
          </p:nvSpPr>
          <p:spPr>
            <a:xfrm>
              <a:off x="1414258"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1159826"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905395" y="592"/>
              <a:ext cx="1741500" cy="1044300"/>
            </a:xfrm>
            <a:prstGeom prst="parallelogram">
              <a:avLst>
                <a:gd name="adj" fmla="val 153193"/>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 name="Google Shape;22;p2"/>
          <p:cNvGrpSpPr/>
          <p:nvPr/>
        </p:nvGrpSpPr>
        <p:grpSpPr>
          <a:xfrm>
            <a:off x="7057468" y="5088"/>
            <a:ext cx="1851282" cy="752108"/>
            <a:chOff x="6917201" y="0"/>
            <a:chExt cx="2227777" cy="863400"/>
          </a:xfrm>
        </p:grpSpPr>
        <p:sp>
          <p:nvSpPr>
            <p:cNvPr id="23" name="Google Shape;23;p2"/>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25;p2"/>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 name="Google Shape;26;p2"/>
          <p:cNvGrpSpPr/>
          <p:nvPr/>
        </p:nvGrpSpPr>
        <p:grpSpPr>
          <a:xfrm>
            <a:off x="6553032" y="4217852"/>
            <a:ext cx="2389068" cy="925737"/>
            <a:chOff x="6917201" y="0"/>
            <a:chExt cx="2227777" cy="863400"/>
          </a:xfrm>
        </p:grpSpPr>
        <p:sp>
          <p:nvSpPr>
            <p:cNvPr id="27" name="Google Shape;27;p2"/>
            <p:cNvSpPr/>
            <p:nvPr/>
          </p:nvSpPr>
          <p:spPr>
            <a:xfrm>
              <a:off x="7641677"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7279439"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6917201" y="0"/>
              <a:ext cx="1503300" cy="863400"/>
            </a:xfrm>
            <a:prstGeom prst="parallelogram">
              <a:avLst>
                <a:gd name="adj" fmla="val 158024"/>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0" name="Google Shape;30;p2"/>
          <p:cNvGrpSpPr/>
          <p:nvPr/>
        </p:nvGrpSpPr>
        <p:grpSpPr>
          <a:xfrm>
            <a:off x="199149" y="4055652"/>
            <a:ext cx="2795414" cy="1083308"/>
            <a:chOff x="6917201" y="0"/>
            <a:chExt cx="2227777" cy="863400"/>
          </a:xfrm>
        </p:grpSpPr>
        <p:sp>
          <p:nvSpPr>
            <p:cNvPr id="31" name="Google Shape;31;p2"/>
            <p:cNvSpPr/>
            <p:nvPr/>
          </p:nvSpPr>
          <p:spPr>
            <a:xfrm>
              <a:off x="7641677"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7279439"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6917201"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 name="Google Shape;34;p2"/>
          <p:cNvSpPr txBox="1">
            <a:spLocks noGrp="1"/>
          </p:cNvSpPr>
          <p:nvPr>
            <p:ph type="ctrTitle"/>
          </p:nvPr>
        </p:nvSpPr>
        <p:spPr>
          <a:xfrm>
            <a:off x="1858703" y="1822833"/>
            <a:ext cx="5361300" cy="14481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35" name="Google Shape;35;p2"/>
          <p:cNvSpPr txBox="1">
            <a:spLocks noGrp="1"/>
          </p:cNvSpPr>
          <p:nvPr>
            <p:ph type="subTitle" idx="1"/>
          </p:nvPr>
        </p:nvSpPr>
        <p:spPr>
          <a:xfrm>
            <a:off x="1858700" y="3413158"/>
            <a:ext cx="5361300" cy="52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lt1"/>
              </a:buClr>
              <a:buSzPts val="1600"/>
              <a:buNone/>
              <a:defRPr sz="1600">
                <a:solidFill>
                  <a:schemeClr val="lt1"/>
                </a:solidFill>
              </a:defRPr>
            </a:lvl1pPr>
            <a:lvl2pPr lvl="1" algn="ctr">
              <a:lnSpc>
                <a:spcPct val="100000"/>
              </a:lnSpc>
              <a:spcBef>
                <a:spcPts val="0"/>
              </a:spcBef>
              <a:spcAft>
                <a:spcPts val="0"/>
              </a:spcAft>
              <a:buClr>
                <a:schemeClr val="lt1"/>
              </a:buClr>
              <a:buSzPts val="1600"/>
              <a:buNone/>
              <a:defRPr sz="1600">
                <a:solidFill>
                  <a:schemeClr val="lt1"/>
                </a:solidFill>
              </a:defRPr>
            </a:lvl2pPr>
            <a:lvl3pPr lvl="2" algn="ctr">
              <a:lnSpc>
                <a:spcPct val="100000"/>
              </a:lnSpc>
              <a:spcBef>
                <a:spcPts val="0"/>
              </a:spcBef>
              <a:spcAft>
                <a:spcPts val="0"/>
              </a:spcAft>
              <a:buClr>
                <a:schemeClr val="lt1"/>
              </a:buClr>
              <a:buSzPts val="1600"/>
              <a:buNone/>
              <a:defRPr sz="1600">
                <a:solidFill>
                  <a:schemeClr val="lt1"/>
                </a:solidFill>
              </a:defRPr>
            </a:lvl3pPr>
            <a:lvl4pPr lvl="3" algn="ctr">
              <a:lnSpc>
                <a:spcPct val="100000"/>
              </a:lnSpc>
              <a:spcBef>
                <a:spcPts val="0"/>
              </a:spcBef>
              <a:spcAft>
                <a:spcPts val="0"/>
              </a:spcAft>
              <a:buClr>
                <a:schemeClr val="lt1"/>
              </a:buClr>
              <a:buSzPts val="1600"/>
              <a:buNone/>
              <a:defRPr sz="1600">
                <a:solidFill>
                  <a:schemeClr val="lt1"/>
                </a:solidFill>
              </a:defRPr>
            </a:lvl4pPr>
            <a:lvl5pPr lvl="4" algn="ctr">
              <a:lnSpc>
                <a:spcPct val="100000"/>
              </a:lnSpc>
              <a:spcBef>
                <a:spcPts val="0"/>
              </a:spcBef>
              <a:spcAft>
                <a:spcPts val="0"/>
              </a:spcAft>
              <a:buClr>
                <a:schemeClr val="lt1"/>
              </a:buClr>
              <a:buSzPts val="1600"/>
              <a:buNone/>
              <a:defRPr sz="1600">
                <a:solidFill>
                  <a:schemeClr val="lt1"/>
                </a:solidFill>
              </a:defRPr>
            </a:lvl5pPr>
            <a:lvl6pPr lvl="5" algn="ctr">
              <a:lnSpc>
                <a:spcPct val="100000"/>
              </a:lnSpc>
              <a:spcBef>
                <a:spcPts val="0"/>
              </a:spcBef>
              <a:spcAft>
                <a:spcPts val="0"/>
              </a:spcAft>
              <a:buClr>
                <a:schemeClr val="lt1"/>
              </a:buClr>
              <a:buSzPts val="1600"/>
              <a:buNone/>
              <a:defRPr sz="1600">
                <a:solidFill>
                  <a:schemeClr val="lt1"/>
                </a:solidFill>
              </a:defRPr>
            </a:lvl6pPr>
            <a:lvl7pPr lvl="6" algn="ctr">
              <a:lnSpc>
                <a:spcPct val="100000"/>
              </a:lnSpc>
              <a:spcBef>
                <a:spcPts val="0"/>
              </a:spcBef>
              <a:spcAft>
                <a:spcPts val="0"/>
              </a:spcAft>
              <a:buClr>
                <a:schemeClr val="lt1"/>
              </a:buClr>
              <a:buSzPts val="1600"/>
              <a:buNone/>
              <a:defRPr sz="1600">
                <a:solidFill>
                  <a:schemeClr val="lt1"/>
                </a:solidFill>
              </a:defRPr>
            </a:lvl7pPr>
            <a:lvl8pPr lvl="7" algn="ctr">
              <a:lnSpc>
                <a:spcPct val="100000"/>
              </a:lnSpc>
              <a:spcBef>
                <a:spcPts val="0"/>
              </a:spcBef>
              <a:spcAft>
                <a:spcPts val="0"/>
              </a:spcAft>
              <a:buClr>
                <a:schemeClr val="lt1"/>
              </a:buClr>
              <a:buSzPts val="1600"/>
              <a:buNone/>
              <a:defRPr sz="1600">
                <a:solidFill>
                  <a:schemeClr val="lt1"/>
                </a:solidFill>
              </a:defRPr>
            </a:lvl8pPr>
            <a:lvl9pPr lvl="8" algn="ctr">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36" name="Google Shape;36;p2"/>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37"/>
        <p:cNvGrpSpPr/>
        <p:nvPr/>
      </p:nvGrpSpPr>
      <p:grpSpPr>
        <a:xfrm>
          <a:off x="0" y="0"/>
          <a:ext cx="0" cy="0"/>
          <a:chOff x="0" y="0"/>
          <a:chExt cx="0" cy="0"/>
        </a:xfrm>
      </p:grpSpPr>
      <p:sp>
        <p:nvSpPr>
          <p:cNvPr id="38" name="Google Shape;38;p3"/>
          <p:cNvSpPr/>
          <p:nvPr/>
        </p:nvSpPr>
        <p:spPr>
          <a:xfrm flipH="1">
            <a:off x="4757100" y="2309400"/>
            <a:ext cx="4386900" cy="2834100"/>
          </a:xfrm>
          <a:prstGeom prst="rtTriangl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9" name="Google Shape;39;p3"/>
          <p:cNvGrpSpPr/>
          <p:nvPr/>
        </p:nvGrpSpPr>
        <p:grpSpPr>
          <a:xfrm>
            <a:off x="5594191" y="3961115"/>
            <a:ext cx="2910145" cy="1182340"/>
            <a:chOff x="6917201" y="0"/>
            <a:chExt cx="2227777" cy="863400"/>
          </a:xfrm>
        </p:grpSpPr>
        <p:sp>
          <p:nvSpPr>
            <p:cNvPr id="40" name="Google Shape;40;p3"/>
            <p:cNvSpPr/>
            <p:nvPr/>
          </p:nvSpPr>
          <p:spPr>
            <a:xfrm>
              <a:off x="7641677"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3"/>
            <p:cNvSpPr/>
            <p:nvPr/>
          </p:nvSpPr>
          <p:spPr>
            <a:xfrm>
              <a:off x="7279439"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3"/>
            <p:cNvSpPr/>
            <p:nvPr/>
          </p:nvSpPr>
          <p:spPr>
            <a:xfrm>
              <a:off x="6917201"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 name="Google Shape;43;p3"/>
          <p:cNvGrpSpPr/>
          <p:nvPr/>
        </p:nvGrpSpPr>
        <p:grpSpPr>
          <a:xfrm>
            <a:off x="199149" y="2"/>
            <a:ext cx="2795414" cy="1083308"/>
            <a:chOff x="6917201" y="0"/>
            <a:chExt cx="2227777" cy="863400"/>
          </a:xfrm>
        </p:grpSpPr>
        <p:sp>
          <p:nvSpPr>
            <p:cNvPr id="44" name="Google Shape;44;p3"/>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3"/>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1888684" y="1746100"/>
            <a:ext cx="5377500" cy="16461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dk2"/>
              </a:buClr>
              <a:buSzPts val="3200"/>
              <a:buNone/>
              <a:defRPr sz="3200">
                <a:solidFill>
                  <a:schemeClr val="dk2"/>
                </a:solidFill>
              </a:defRPr>
            </a:lvl1pPr>
            <a:lvl2pPr lvl="1" algn="ctr">
              <a:spcBef>
                <a:spcPts val="0"/>
              </a:spcBef>
              <a:spcAft>
                <a:spcPts val="0"/>
              </a:spcAft>
              <a:buClr>
                <a:schemeClr val="dk2"/>
              </a:buClr>
              <a:buSzPts val="3200"/>
              <a:buNone/>
              <a:defRPr sz="3200">
                <a:solidFill>
                  <a:schemeClr val="dk2"/>
                </a:solidFill>
              </a:defRPr>
            </a:lvl2pPr>
            <a:lvl3pPr lvl="2" algn="ctr">
              <a:spcBef>
                <a:spcPts val="0"/>
              </a:spcBef>
              <a:spcAft>
                <a:spcPts val="0"/>
              </a:spcAft>
              <a:buClr>
                <a:schemeClr val="dk2"/>
              </a:buClr>
              <a:buSzPts val="3200"/>
              <a:buNone/>
              <a:defRPr sz="3200">
                <a:solidFill>
                  <a:schemeClr val="dk2"/>
                </a:solidFill>
              </a:defRPr>
            </a:lvl3pPr>
            <a:lvl4pPr lvl="3" algn="ctr">
              <a:spcBef>
                <a:spcPts val="0"/>
              </a:spcBef>
              <a:spcAft>
                <a:spcPts val="0"/>
              </a:spcAft>
              <a:buClr>
                <a:schemeClr val="dk2"/>
              </a:buClr>
              <a:buSzPts val="3200"/>
              <a:buNone/>
              <a:defRPr sz="3200">
                <a:solidFill>
                  <a:schemeClr val="dk2"/>
                </a:solidFill>
              </a:defRPr>
            </a:lvl4pPr>
            <a:lvl5pPr lvl="4" algn="ctr">
              <a:spcBef>
                <a:spcPts val="0"/>
              </a:spcBef>
              <a:spcAft>
                <a:spcPts val="0"/>
              </a:spcAft>
              <a:buClr>
                <a:schemeClr val="dk2"/>
              </a:buClr>
              <a:buSzPts val="3200"/>
              <a:buNone/>
              <a:defRPr sz="3200">
                <a:solidFill>
                  <a:schemeClr val="dk2"/>
                </a:solidFill>
              </a:defRPr>
            </a:lvl5pPr>
            <a:lvl6pPr lvl="5" algn="ctr">
              <a:spcBef>
                <a:spcPts val="0"/>
              </a:spcBef>
              <a:spcAft>
                <a:spcPts val="0"/>
              </a:spcAft>
              <a:buClr>
                <a:schemeClr val="dk2"/>
              </a:buClr>
              <a:buSzPts val="3200"/>
              <a:buNone/>
              <a:defRPr sz="3200">
                <a:solidFill>
                  <a:schemeClr val="dk2"/>
                </a:solidFill>
              </a:defRPr>
            </a:lvl6pPr>
            <a:lvl7pPr lvl="6" algn="ctr">
              <a:spcBef>
                <a:spcPts val="0"/>
              </a:spcBef>
              <a:spcAft>
                <a:spcPts val="0"/>
              </a:spcAft>
              <a:buClr>
                <a:schemeClr val="dk2"/>
              </a:buClr>
              <a:buSzPts val="3200"/>
              <a:buNone/>
              <a:defRPr sz="3200">
                <a:solidFill>
                  <a:schemeClr val="dk2"/>
                </a:solidFill>
              </a:defRPr>
            </a:lvl7pPr>
            <a:lvl8pPr lvl="7" algn="ctr">
              <a:spcBef>
                <a:spcPts val="0"/>
              </a:spcBef>
              <a:spcAft>
                <a:spcPts val="0"/>
              </a:spcAft>
              <a:buClr>
                <a:schemeClr val="dk2"/>
              </a:buClr>
              <a:buSzPts val="3200"/>
              <a:buNone/>
              <a:defRPr sz="3200">
                <a:solidFill>
                  <a:schemeClr val="dk2"/>
                </a:solidFill>
              </a:defRPr>
            </a:lvl8pPr>
            <a:lvl9pPr lvl="8" algn="ctr">
              <a:spcBef>
                <a:spcPts val="0"/>
              </a:spcBef>
              <a:spcAft>
                <a:spcPts val="0"/>
              </a:spcAft>
              <a:buClr>
                <a:schemeClr val="dk2"/>
              </a:buClr>
              <a:buSzPts val="3200"/>
              <a:buNone/>
              <a:defRPr sz="3200">
                <a:solidFill>
                  <a:schemeClr val="dk2"/>
                </a:solidFill>
              </a:defRPr>
            </a:lvl9pPr>
          </a:lstStyle>
          <a:p>
            <a:endParaRPr/>
          </a:p>
        </p:txBody>
      </p:sp>
      <p:sp>
        <p:nvSpPr>
          <p:cNvPr id="48" name="Google Shape;48;p3"/>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chemeClr val="dk2"/>
        </a:solidFill>
        <a:effectLst/>
      </p:bgPr>
    </p:bg>
    <p:spTree>
      <p:nvGrpSpPr>
        <p:cNvPr id="1" name="Shape 49"/>
        <p:cNvGrpSpPr/>
        <p:nvPr/>
      </p:nvGrpSpPr>
      <p:grpSpPr>
        <a:xfrm>
          <a:off x="0" y="0"/>
          <a:ext cx="0" cy="0"/>
          <a:chOff x="0" y="0"/>
          <a:chExt cx="0" cy="0"/>
        </a:xfrm>
      </p:grpSpPr>
      <p:sp>
        <p:nvSpPr>
          <p:cNvPr id="50" name="Google Shape;50;p4"/>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4"/>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4"/>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4"/>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54" name="Google Shape;54;p4"/>
          <p:cNvSpPr txBox="1">
            <a:spLocks noGrp="1"/>
          </p:cNvSpPr>
          <p:nvPr>
            <p:ph type="body" idx="1"/>
          </p:nvPr>
        </p:nvSpPr>
        <p:spPr>
          <a:xfrm>
            <a:off x="819150" y="1990725"/>
            <a:ext cx="75057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5" name="Google Shape;55;p4"/>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chemeClr val="dk2"/>
        </a:solidFill>
        <a:effectLst/>
      </p:bgPr>
    </p:bg>
    <p:spTree>
      <p:nvGrpSpPr>
        <p:cNvPr id="1" name="Shape 56"/>
        <p:cNvGrpSpPr/>
        <p:nvPr/>
      </p:nvGrpSpPr>
      <p:grpSpPr>
        <a:xfrm>
          <a:off x="0" y="0"/>
          <a:ext cx="0" cy="0"/>
          <a:chOff x="0" y="0"/>
          <a:chExt cx="0" cy="0"/>
        </a:xfrm>
      </p:grpSpPr>
      <p:sp>
        <p:nvSpPr>
          <p:cNvPr id="57" name="Google Shape;57;p5"/>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5"/>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59;p5"/>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5"/>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61" name="Google Shape;61;p5"/>
          <p:cNvSpPr txBox="1">
            <a:spLocks noGrp="1"/>
          </p:cNvSpPr>
          <p:nvPr>
            <p:ph type="body" idx="1"/>
          </p:nvPr>
        </p:nvSpPr>
        <p:spPr>
          <a:xfrm>
            <a:off x="819150" y="1990725"/>
            <a:ext cx="36861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2" name="Google Shape;62;p5"/>
          <p:cNvSpPr txBox="1">
            <a:spLocks noGrp="1"/>
          </p:cNvSpPr>
          <p:nvPr>
            <p:ph type="body" idx="2"/>
          </p:nvPr>
        </p:nvSpPr>
        <p:spPr>
          <a:xfrm>
            <a:off x="4638675" y="1990725"/>
            <a:ext cx="3686100" cy="244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63" name="Google Shape;63;p5"/>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dk2"/>
        </a:solidFill>
        <a:effectLst/>
      </p:bgPr>
    </p:bg>
    <p:spTree>
      <p:nvGrpSpPr>
        <p:cNvPr id="1" name="Shape 64"/>
        <p:cNvGrpSpPr/>
        <p:nvPr/>
      </p:nvGrpSpPr>
      <p:grpSpPr>
        <a:xfrm>
          <a:off x="0" y="0"/>
          <a:ext cx="0" cy="0"/>
          <a:chOff x="0" y="0"/>
          <a:chExt cx="0" cy="0"/>
        </a:xfrm>
      </p:grpSpPr>
      <p:sp>
        <p:nvSpPr>
          <p:cNvPr id="65" name="Google Shape;65;p6"/>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6"/>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6"/>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6"/>
          <p:cNvSpPr txBox="1">
            <a:spLocks noGrp="1"/>
          </p:cNvSpPr>
          <p:nvPr>
            <p:ph type="title"/>
          </p:nvPr>
        </p:nvSpPr>
        <p:spPr>
          <a:xfrm>
            <a:off x="819150" y="845600"/>
            <a:ext cx="7505700" cy="9546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69" name="Google Shape;69;p6"/>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bg>
      <p:bgPr>
        <a:solidFill>
          <a:schemeClr val="accent3"/>
        </a:solidFill>
        <a:effectLst/>
      </p:bgPr>
    </p:bg>
    <p:spTree>
      <p:nvGrpSpPr>
        <p:cNvPr id="1" name="Shape 70"/>
        <p:cNvGrpSpPr/>
        <p:nvPr/>
      </p:nvGrpSpPr>
      <p:grpSpPr>
        <a:xfrm>
          <a:off x="0" y="0"/>
          <a:ext cx="0" cy="0"/>
          <a:chOff x="0" y="0"/>
          <a:chExt cx="0" cy="0"/>
        </a:xfrm>
      </p:grpSpPr>
      <p:sp>
        <p:nvSpPr>
          <p:cNvPr id="71" name="Google Shape;71;p7"/>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7"/>
          <p:cNvSpPr/>
          <p:nvPr/>
        </p:nvSpPr>
        <p:spPr>
          <a:xfrm>
            <a:off x="31" y="2824500"/>
            <a:ext cx="7370400" cy="23190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7"/>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7"/>
          <p:cNvSpPr txBox="1">
            <a:spLocks noGrp="1"/>
          </p:cNvSpPr>
          <p:nvPr>
            <p:ph type="title"/>
          </p:nvPr>
        </p:nvSpPr>
        <p:spPr>
          <a:xfrm>
            <a:off x="819150" y="845600"/>
            <a:ext cx="3709200" cy="13830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75" name="Google Shape;75;p7"/>
          <p:cNvSpPr txBox="1">
            <a:spLocks noGrp="1"/>
          </p:cNvSpPr>
          <p:nvPr>
            <p:ph type="body" idx="1"/>
          </p:nvPr>
        </p:nvSpPr>
        <p:spPr>
          <a:xfrm>
            <a:off x="830700" y="2319050"/>
            <a:ext cx="3709200" cy="21198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76" name="Google Shape;76;p7"/>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1"/>
        </a:solidFill>
        <a:effectLst/>
      </p:bgPr>
    </p:bg>
    <p:spTree>
      <p:nvGrpSpPr>
        <p:cNvPr id="1" name="Shape 77"/>
        <p:cNvGrpSpPr/>
        <p:nvPr/>
      </p:nvGrpSpPr>
      <p:grpSpPr>
        <a:xfrm>
          <a:off x="0" y="0"/>
          <a:ext cx="0" cy="0"/>
          <a:chOff x="0" y="0"/>
          <a:chExt cx="0" cy="0"/>
        </a:xfrm>
      </p:grpSpPr>
      <p:sp>
        <p:nvSpPr>
          <p:cNvPr id="78" name="Google Shape;78;p8"/>
          <p:cNvSpPr/>
          <p:nvPr/>
        </p:nvSpPr>
        <p:spPr>
          <a:xfrm>
            <a:off x="0" y="2823144"/>
            <a:ext cx="7369200" cy="2316900"/>
          </a:xfrm>
          <a:prstGeom prst="rtTriangle">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8"/>
          <p:cNvSpPr/>
          <p:nvPr/>
        </p:nvSpPr>
        <p:spPr>
          <a:xfrm flipH="1">
            <a:off x="3583210" y="1554113"/>
            <a:ext cx="5560500" cy="35895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0" name="Google Shape;80;p8"/>
          <p:cNvGrpSpPr/>
          <p:nvPr/>
        </p:nvGrpSpPr>
        <p:grpSpPr>
          <a:xfrm>
            <a:off x="255991" y="-118"/>
            <a:ext cx="2251347" cy="1043408"/>
            <a:chOff x="3961956" y="4383950"/>
            <a:chExt cx="1160548" cy="548700"/>
          </a:xfrm>
        </p:grpSpPr>
        <p:sp>
          <p:nvSpPr>
            <p:cNvPr id="81" name="Google Shape;81;p8"/>
            <p:cNvSpPr/>
            <p:nvPr/>
          </p:nvSpPr>
          <p:spPr>
            <a:xfrm>
              <a:off x="4224904"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8"/>
            <p:cNvSpPr/>
            <p:nvPr/>
          </p:nvSpPr>
          <p:spPr>
            <a:xfrm>
              <a:off x="4093430"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8"/>
            <p:cNvSpPr/>
            <p:nvPr/>
          </p:nvSpPr>
          <p:spPr>
            <a:xfrm>
              <a:off x="3961956" y="4383950"/>
              <a:ext cx="897600" cy="548700"/>
            </a:xfrm>
            <a:prstGeom prst="parallelogram">
              <a:avLst>
                <a:gd name="adj" fmla="val 153193"/>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Google Shape;84;p8"/>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5" name="Google Shape;85;p8"/>
          <p:cNvGrpSpPr/>
          <p:nvPr/>
        </p:nvGrpSpPr>
        <p:grpSpPr>
          <a:xfrm>
            <a:off x="34934" y="4522125"/>
            <a:ext cx="1593306" cy="617072"/>
            <a:chOff x="6917201" y="0"/>
            <a:chExt cx="2227777" cy="863400"/>
          </a:xfrm>
        </p:grpSpPr>
        <p:sp>
          <p:nvSpPr>
            <p:cNvPr id="86" name="Google Shape;86;p8"/>
            <p:cNvSpPr/>
            <p:nvPr/>
          </p:nvSpPr>
          <p:spPr>
            <a:xfrm>
              <a:off x="7641677"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 name="Google Shape;87;p8"/>
            <p:cNvSpPr/>
            <p:nvPr/>
          </p:nvSpPr>
          <p:spPr>
            <a:xfrm>
              <a:off x="7279439"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8"/>
            <p:cNvSpPr/>
            <p:nvPr/>
          </p:nvSpPr>
          <p:spPr>
            <a:xfrm>
              <a:off x="6917201" y="0"/>
              <a:ext cx="1503300" cy="863400"/>
            </a:xfrm>
            <a:prstGeom prst="parallelogram">
              <a:avLst>
                <a:gd name="adj" fmla="val 158024"/>
              </a:avLst>
            </a:pr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oogle Shape;89;p8"/>
          <p:cNvGrpSpPr/>
          <p:nvPr/>
        </p:nvGrpSpPr>
        <p:grpSpPr>
          <a:xfrm>
            <a:off x="5886353" y="1243"/>
            <a:ext cx="3257455" cy="1261514"/>
            <a:chOff x="6917201" y="0"/>
            <a:chExt cx="2227777" cy="863400"/>
          </a:xfrm>
        </p:grpSpPr>
        <p:sp>
          <p:nvSpPr>
            <p:cNvPr id="90" name="Google Shape;90;p8"/>
            <p:cNvSpPr/>
            <p:nvPr/>
          </p:nvSpPr>
          <p:spPr>
            <a:xfrm>
              <a:off x="7641677"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8"/>
            <p:cNvSpPr/>
            <p:nvPr/>
          </p:nvSpPr>
          <p:spPr>
            <a:xfrm>
              <a:off x="7279439"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8"/>
            <p:cNvSpPr/>
            <p:nvPr/>
          </p:nvSpPr>
          <p:spPr>
            <a:xfrm>
              <a:off x="6917201" y="0"/>
              <a:ext cx="1503300" cy="863400"/>
            </a:xfrm>
            <a:prstGeom prst="parallelogram">
              <a:avLst>
                <a:gd name="adj" fmla="val 158024"/>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Google Shape;93;p8"/>
          <p:cNvSpPr txBox="1">
            <a:spLocks noGrp="1"/>
          </p:cNvSpPr>
          <p:nvPr>
            <p:ph type="title"/>
          </p:nvPr>
        </p:nvSpPr>
        <p:spPr>
          <a:xfrm>
            <a:off x="1393929" y="1301146"/>
            <a:ext cx="6366900" cy="25392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200"/>
              <a:buNone/>
              <a:defRPr sz="3200"/>
            </a:lvl1pPr>
            <a:lvl2pPr lvl="1" algn="ctr">
              <a:spcBef>
                <a:spcPts val="0"/>
              </a:spcBef>
              <a:spcAft>
                <a:spcPts val="0"/>
              </a:spcAft>
              <a:buSzPts val="3200"/>
              <a:buNone/>
              <a:defRPr sz="3200"/>
            </a:lvl2pPr>
            <a:lvl3pPr lvl="2" algn="ctr">
              <a:spcBef>
                <a:spcPts val="0"/>
              </a:spcBef>
              <a:spcAft>
                <a:spcPts val="0"/>
              </a:spcAft>
              <a:buSzPts val="3200"/>
              <a:buNone/>
              <a:defRPr sz="3200"/>
            </a:lvl3pPr>
            <a:lvl4pPr lvl="3" algn="ctr">
              <a:spcBef>
                <a:spcPts val="0"/>
              </a:spcBef>
              <a:spcAft>
                <a:spcPts val="0"/>
              </a:spcAft>
              <a:buSzPts val="3200"/>
              <a:buNone/>
              <a:defRPr sz="3200"/>
            </a:lvl4pPr>
            <a:lvl5pPr lvl="4" algn="ctr">
              <a:spcBef>
                <a:spcPts val="0"/>
              </a:spcBef>
              <a:spcAft>
                <a:spcPts val="0"/>
              </a:spcAft>
              <a:buSzPts val="3200"/>
              <a:buNone/>
              <a:defRPr sz="3200"/>
            </a:lvl5pPr>
            <a:lvl6pPr lvl="5" algn="ctr">
              <a:spcBef>
                <a:spcPts val="0"/>
              </a:spcBef>
              <a:spcAft>
                <a:spcPts val="0"/>
              </a:spcAft>
              <a:buSzPts val="3200"/>
              <a:buNone/>
              <a:defRPr sz="3200"/>
            </a:lvl6pPr>
            <a:lvl7pPr lvl="6" algn="ctr">
              <a:spcBef>
                <a:spcPts val="0"/>
              </a:spcBef>
              <a:spcAft>
                <a:spcPts val="0"/>
              </a:spcAft>
              <a:buSzPts val="3200"/>
              <a:buNone/>
              <a:defRPr sz="3200"/>
            </a:lvl7pPr>
            <a:lvl8pPr lvl="7" algn="ctr">
              <a:spcBef>
                <a:spcPts val="0"/>
              </a:spcBef>
              <a:spcAft>
                <a:spcPts val="0"/>
              </a:spcAft>
              <a:buSzPts val="3200"/>
              <a:buNone/>
              <a:defRPr sz="3200"/>
            </a:lvl8pPr>
            <a:lvl9pPr lvl="8" algn="ctr">
              <a:spcBef>
                <a:spcPts val="0"/>
              </a:spcBef>
              <a:spcAft>
                <a:spcPts val="0"/>
              </a:spcAft>
              <a:buSzPts val="3200"/>
              <a:buNone/>
              <a:defRPr sz="3200"/>
            </a:lvl9pPr>
          </a:lstStyle>
          <a:p>
            <a:endParaRPr/>
          </a:p>
        </p:txBody>
      </p:sp>
      <p:sp>
        <p:nvSpPr>
          <p:cNvPr id="94" name="Google Shape;94;p8"/>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bg>
      <p:bgPr>
        <a:solidFill>
          <a:schemeClr val="dk2"/>
        </a:solidFill>
        <a:effectLst/>
      </p:bgPr>
    </p:bg>
    <p:spTree>
      <p:nvGrpSpPr>
        <p:cNvPr id="1" name="Shape 95"/>
        <p:cNvGrpSpPr/>
        <p:nvPr/>
      </p:nvGrpSpPr>
      <p:grpSpPr>
        <a:xfrm>
          <a:off x="0" y="0"/>
          <a:ext cx="0" cy="0"/>
          <a:chOff x="0" y="0"/>
          <a:chExt cx="0" cy="0"/>
        </a:xfrm>
      </p:grpSpPr>
      <p:sp>
        <p:nvSpPr>
          <p:cNvPr id="96" name="Google Shape;96;p9"/>
          <p:cNvSpPr/>
          <p:nvPr/>
        </p:nvSpPr>
        <p:spPr>
          <a:xfrm flipH="1">
            <a:off x="3582600" y="1550700"/>
            <a:ext cx="5561400" cy="35928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9"/>
          <p:cNvSpPr/>
          <p:nvPr/>
        </p:nvSpPr>
        <p:spPr>
          <a:xfrm>
            <a:off x="31" y="2824500"/>
            <a:ext cx="7370400" cy="2319000"/>
          </a:xfrm>
          <a:prstGeom prst="rtTriangle">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9"/>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 name="Google Shape;99;p9"/>
          <p:cNvSpPr txBox="1">
            <a:spLocks noGrp="1"/>
          </p:cNvSpPr>
          <p:nvPr>
            <p:ph type="title"/>
          </p:nvPr>
        </p:nvSpPr>
        <p:spPr>
          <a:xfrm>
            <a:off x="819150" y="845600"/>
            <a:ext cx="6424200" cy="705000"/>
          </a:xfrm>
          <a:prstGeom prst="rect">
            <a:avLst/>
          </a:prstGeom>
        </p:spPr>
        <p:txBody>
          <a:bodyPr spcFirstLastPara="1" wrap="square" lIns="91425" tIns="91425" rIns="91425" bIns="91425" anchor="t" anchorCtr="0">
            <a:norm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100" name="Google Shape;100;p9"/>
          <p:cNvSpPr txBox="1">
            <a:spLocks noGrp="1"/>
          </p:cNvSpPr>
          <p:nvPr>
            <p:ph type="subTitle" idx="1"/>
          </p:nvPr>
        </p:nvSpPr>
        <p:spPr>
          <a:xfrm>
            <a:off x="819150" y="1550700"/>
            <a:ext cx="5859900" cy="3936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1"/>
              </a:buClr>
              <a:buSzPts val="1600"/>
              <a:buNone/>
              <a:defRPr sz="1600">
                <a:solidFill>
                  <a:schemeClr val="lt1"/>
                </a:solidFill>
              </a:defRPr>
            </a:lvl1pPr>
            <a:lvl2pPr lvl="1">
              <a:lnSpc>
                <a:spcPct val="100000"/>
              </a:lnSpc>
              <a:spcBef>
                <a:spcPts val="0"/>
              </a:spcBef>
              <a:spcAft>
                <a:spcPts val="0"/>
              </a:spcAft>
              <a:buClr>
                <a:schemeClr val="lt1"/>
              </a:buClr>
              <a:buSzPts val="1600"/>
              <a:buNone/>
              <a:defRPr sz="1600">
                <a:solidFill>
                  <a:schemeClr val="lt1"/>
                </a:solidFill>
              </a:defRPr>
            </a:lvl2pPr>
            <a:lvl3pPr lvl="2">
              <a:lnSpc>
                <a:spcPct val="100000"/>
              </a:lnSpc>
              <a:spcBef>
                <a:spcPts val="0"/>
              </a:spcBef>
              <a:spcAft>
                <a:spcPts val="0"/>
              </a:spcAft>
              <a:buClr>
                <a:schemeClr val="lt1"/>
              </a:buClr>
              <a:buSzPts val="1600"/>
              <a:buNone/>
              <a:defRPr sz="1600">
                <a:solidFill>
                  <a:schemeClr val="lt1"/>
                </a:solidFill>
              </a:defRPr>
            </a:lvl3pPr>
            <a:lvl4pPr lvl="3">
              <a:lnSpc>
                <a:spcPct val="100000"/>
              </a:lnSpc>
              <a:spcBef>
                <a:spcPts val="0"/>
              </a:spcBef>
              <a:spcAft>
                <a:spcPts val="0"/>
              </a:spcAft>
              <a:buClr>
                <a:schemeClr val="lt1"/>
              </a:buClr>
              <a:buSzPts val="1600"/>
              <a:buNone/>
              <a:defRPr sz="1600">
                <a:solidFill>
                  <a:schemeClr val="lt1"/>
                </a:solidFill>
              </a:defRPr>
            </a:lvl4pPr>
            <a:lvl5pPr lvl="4">
              <a:lnSpc>
                <a:spcPct val="100000"/>
              </a:lnSpc>
              <a:spcBef>
                <a:spcPts val="0"/>
              </a:spcBef>
              <a:spcAft>
                <a:spcPts val="0"/>
              </a:spcAft>
              <a:buClr>
                <a:schemeClr val="lt1"/>
              </a:buClr>
              <a:buSzPts val="1600"/>
              <a:buNone/>
              <a:defRPr sz="1600">
                <a:solidFill>
                  <a:schemeClr val="lt1"/>
                </a:solidFill>
              </a:defRPr>
            </a:lvl5pPr>
            <a:lvl6pPr lvl="5">
              <a:lnSpc>
                <a:spcPct val="100000"/>
              </a:lnSpc>
              <a:spcBef>
                <a:spcPts val="0"/>
              </a:spcBef>
              <a:spcAft>
                <a:spcPts val="0"/>
              </a:spcAft>
              <a:buClr>
                <a:schemeClr val="lt1"/>
              </a:buClr>
              <a:buSzPts val="1600"/>
              <a:buNone/>
              <a:defRPr sz="1600">
                <a:solidFill>
                  <a:schemeClr val="lt1"/>
                </a:solidFill>
              </a:defRPr>
            </a:lvl6pPr>
            <a:lvl7pPr lvl="6">
              <a:lnSpc>
                <a:spcPct val="100000"/>
              </a:lnSpc>
              <a:spcBef>
                <a:spcPts val="0"/>
              </a:spcBef>
              <a:spcAft>
                <a:spcPts val="0"/>
              </a:spcAft>
              <a:buClr>
                <a:schemeClr val="lt1"/>
              </a:buClr>
              <a:buSzPts val="1600"/>
              <a:buNone/>
              <a:defRPr sz="1600">
                <a:solidFill>
                  <a:schemeClr val="lt1"/>
                </a:solidFill>
              </a:defRPr>
            </a:lvl7pPr>
            <a:lvl8pPr lvl="7">
              <a:lnSpc>
                <a:spcPct val="100000"/>
              </a:lnSpc>
              <a:spcBef>
                <a:spcPts val="0"/>
              </a:spcBef>
              <a:spcAft>
                <a:spcPts val="0"/>
              </a:spcAft>
              <a:buClr>
                <a:schemeClr val="lt1"/>
              </a:buClr>
              <a:buSzPts val="1600"/>
              <a:buNone/>
              <a:defRPr sz="1600">
                <a:solidFill>
                  <a:schemeClr val="lt1"/>
                </a:solidFill>
              </a:defRPr>
            </a:lvl8pPr>
            <a:lvl9pPr lvl="8">
              <a:lnSpc>
                <a:spcPct val="100000"/>
              </a:lnSpc>
              <a:spcBef>
                <a:spcPts val="0"/>
              </a:spcBef>
              <a:spcAft>
                <a:spcPts val="0"/>
              </a:spcAft>
              <a:buClr>
                <a:schemeClr val="lt1"/>
              </a:buClr>
              <a:buSzPts val="1600"/>
              <a:buNone/>
              <a:defRPr sz="1600">
                <a:solidFill>
                  <a:schemeClr val="lt1"/>
                </a:solidFill>
              </a:defRPr>
            </a:lvl9pPr>
          </a:lstStyle>
          <a:p>
            <a:endParaRPr/>
          </a:p>
        </p:txBody>
      </p:sp>
      <p:sp>
        <p:nvSpPr>
          <p:cNvPr id="101" name="Google Shape;101;p9"/>
          <p:cNvSpPr txBox="1">
            <a:spLocks noGrp="1"/>
          </p:cNvSpPr>
          <p:nvPr>
            <p:ph type="body" idx="2"/>
          </p:nvPr>
        </p:nvSpPr>
        <p:spPr>
          <a:xfrm>
            <a:off x="819150" y="2467050"/>
            <a:ext cx="5859900" cy="2095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02" name="Google Shape;102;p9"/>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chemeClr val="accent1"/>
        </a:solidFill>
        <a:effectLst/>
      </p:bgPr>
    </p:bg>
    <p:spTree>
      <p:nvGrpSpPr>
        <p:cNvPr id="1" name="Shape 103"/>
        <p:cNvGrpSpPr/>
        <p:nvPr/>
      </p:nvGrpSpPr>
      <p:grpSpPr>
        <a:xfrm>
          <a:off x="0" y="0"/>
          <a:ext cx="0" cy="0"/>
          <a:chOff x="0" y="0"/>
          <a:chExt cx="0" cy="0"/>
        </a:xfrm>
      </p:grpSpPr>
      <p:sp>
        <p:nvSpPr>
          <p:cNvPr id="104" name="Google Shape;104;p10"/>
          <p:cNvSpPr/>
          <p:nvPr/>
        </p:nvSpPr>
        <p:spPr>
          <a:xfrm>
            <a:off x="31" y="2824500"/>
            <a:ext cx="7370400" cy="2319000"/>
          </a:xfrm>
          <a:prstGeom prst="rtTriangle">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0"/>
          <p:cNvSpPr/>
          <p:nvPr/>
        </p:nvSpPr>
        <p:spPr>
          <a:xfrm flipH="1">
            <a:off x="3582600" y="1550700"/>
            <a:ext cx="5561400" cy="3592800"/>
          </a:xfrm>
          <a:prstGeom prst="rtTriangl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0"/>
          <p:cNvSpPr/>
          <p:nvPr/>
        </p:nvSpPr>
        <p:spPr>
          <a:xfrm>
            <a:off x="203225" y="206250"/>
            <a:ext cx="8737500" cy="4731000"/>
          </a:xfrm>
          <a:prstGeom prst="rect">
            <a:avLst/>
          </a:prstGeom>
          <a:solidFill>
            <a:schemeClr val="dk1"/>
          </a:solidFill>
          <a:ln>
            <a:noFill/>
          </a:ln>
          <a:effectLst>
            <a:outerShdw blurRad="228600" sx="101000" sy="101000" algn="ctr" rotWithShape="0">
              <a:srgbClr val="000000">
                <a:alpha val="4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10"/>
          <p:cNvSpPr txBox="1">
            <a:spLocks noGrp="1"/>
          </p:cNvSpPr>
          <p:nvPr>
            <p:ph type="body" idx="1"/>
          </p:nvPr>
        </p:nvSpPr>
        <p:spPr>
          <a:xfrm>
            <a:off x="328025" y="4163500"/>
            <a:ext cx="7415100" cy="605100"/>
          </a:xfrm>
          <a:prstGeom prst="rect">
            <a:avLst/>
          </a:prstGeom>
        </p:spPr>
        <p:txBody>
          <a:bodyPr spcFirstLastPara="1" wrap="square" lIns="91425" tIns="91425" rIns="91425" bIns="91425" anchor="b" anchorCtr="0">
            <a:normAutofit/>
          </a:bodyPr>
          <a:lstStyle>
            <a:lvl1pPr marL="457200" lvl="0" indent="-228600">
              <a:lnSpc>
                <a:spcPct val="100000"/>
              </a:lnSpc>
              <a:spcBef>
                <a:spcPts val="0"/>
              </a:spcBef>
              <a:spcAft>
                <a:spcPts val="0"/>
              </a:spcAft>
              <a:buSzPts val="1300"/>
              <a:buNone/>
              <a:defRPr/>
            </a:lvl1pPr>
          </a:lstStyle>
          <a:p>
            <a:endParaRPr/>
          </a:p>
        </p:txBody>
      </p:sp>
      <p:sp>
        <p:nvSpPr>
          <p:cNvPr id="108" name="Google Shape;108;p10"/>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3"/>
        </a:solidFill>
        <a:effectLst/>
      </p:bgPr>
    </p:bg>
    <p:spTree>
      <p:nvGrpSpPr>
        <p:cNvPr id="1" name="Shape 109"/>
        <p:cNvGrpSpPr/>
        <p:nvPr/>
      </p:nvGrpSpPr>
      <p:grpSpPr>
        <a:xfrm>
          <a:off x="0" y="0"/>
          <a:ext cx="0" cy="0"/>
          <a:chOff x="0" y="0"/>
          <a:chExt cx="0" cy="0"/>
        </a:xfrm>
      </p:grpSpPr>
      <p:sp>
        <p:nvSpPr>
          <p:cNvPr id="110" name="Google Shape;110;p11"/>
          <p:cNvSpPr/>
          <p:nvPr/>
        </p:nvSpPr>
        <p:spPr>
          <a:xfrm flipH="1">
            <a:off x="5569200" y="2834075"/>
            <a:ext cx="3574800" cy="2309400"/>
          </a:xfrm>
          <a:prstGeom prst="rtTriangl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11" name="Google Shape;111;p11"/>
          <p:cNvGrpSpPr/>
          <p:nvPr/>
        </p:nvGrpSpPr>
        <p:grpSpPr>
          <a:xfrm>
            <a:off x="5959222" y="4119576"/>
            <a:ext cx="2520952" cy="1024165"/>
            <a:chOff x="6917201" y="0"/>
            <a:chExt cx="2227777" cy="863400"/>
          </a:xfrm>
        </p:grpSpPr>
        <p:sp>
          <p:nvSpPr>
            <p:cNvPr id="112" name="Google Shape;112;p11"/>
            <p:cNvSpPr/>
            <p:nvPr/>
          </p:nvSpPr>
          <p:spPr>
            <a:xfrm>
              <a:off x="7641677"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1"/>
            <p:cNvSpPr/>
            <p:nvPr/>
          </p:nvSpPr>
          <p:spPr>
            <a:xfrm>
              <a:off x="7279439"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11"/>
            <p:cNvSpPr/>
            <p:nvPr/>
          </p:nvSpPr>
          <p:spPr>
            <a:xfrm>
              <a:off x="6917201" y="0"/>
              <a:ext cx="1503300" cy="863400"/>
            </a:xfrm>
            <a:prstGeom prst="parallelogram">
              <a:avLst>
                <a:gd name="adj" fmla="val 158024"/>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5" name="Google Shape;115;p11"/>
          <p:cNvGrpSpPr/>
          <p:nvPr/>
        </p:nvGrpSpPr>
        <p:grpSpPr>
          <a:xfrm>
            <a:off x="199149" y="2"/>
            <a:ext cx="2795414" cy="1083308"/>
            <a:chOff x="6917201" y="0"/>
            <a:chExt cx="2227777" cy="863400"/>
          </a:xfrm>
        </p:grpSpPr>
        <p:sp>
          <p:nvSpPr>
            <p:cNvPr id="116" name="Google Shape;116;p11"/>
            <p:cNvSpPr/>
            <p:nvPr/>
          </p:nvSpPr>
          <p:spPr>
            <a:xfrm>
              <a:off x="7641677"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1"/>
            <p:cNvSpPr/>
            <p:nvPr/>
          </p:nvSpPr>
          <p:spPr>
            <a:xfrm>
              <a:off x="7279439"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 name="Google Shape;118;p11"/>
            <p:cNvSpPr/>
            <p:nvPr/>
          </p:nvSpPr>
          <p:spPr>
            <a:xfrm>
              <a:off x="6917201" y="0"/>
              <a:ext cx="1503300" cy="863400"/>
            </a:xfrm>
            <a:prstGeom prst="parallelogram">
              <a:avLst>
                <a:gd name="adj" fmla="val 158024"/>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9" name="Google Shape;119;p11"/>
          <p:cNvSpPr txBox="1">
            <a:spLocks noGrp="1"/>
          </p:cNvSpPr>
          <p:nvPr>
            <p:ph type="title" hasCustomPrompt="1"/>
          </p:nvPr>
        </p:nvSpPr>
        <p:spPr>
          <a:xfrm>
            <a:off x="1385850" y="1383850"/>
            <a:ext cx="6372300" cy="13797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dk2"/>
              </a:buClr>
              <a:buSzPts val="8600"/>
              <a:buNone/>
              <a:defRPr sz="8600">
                <a:solidFill>
                  <a:schemeClr val="dk2"/>
                </a:solidFill>
              </a:defRPr>
            </a:lvl1pPr>
            <a:lvl2pPr lvl="1" algn="ctr">
              <a:spcBef>
                <a:spcPts val="0"/>
              </a:spcBef>
              <a:spcAft>
                <a:spcPts val="0"/>
              </a:spcAft>
              <a:buClr>
                <a:schemeClr val="dk2"/>
              </a:buClr>
              <a:buSzPts val="8600"/>
              <a:buNone/>
              <a:defRPr sz="8600">
                <a:solidFill>
                  <a:schemeClr val="dk2"/>
                </a:solidFill>
              </a:defRPr>
            </a:lvl2pPr>
            <a:lvl3pPr lvl="2" algn="ctr">
              <a:spcBef>
                <a:spcPts val="0"/>
              </a:spcBef>
              <a:spcAft>
                <a:spcPts val="0"/>
              </a:spcAft>
              <a:buClr>
                <a:schemeClr val="dk2"/>
              </a:buClr>
              <a:buSzPts val="8600"/>
              <a:buNone/>
              <a:defRPr sz="8600">
                <a:solidFill>
                  <a:schemeClr val="dk2"/>
                </a:solidFill>
              </a:defRPr>
            </a:lvl3pPr>
            <a:lvl4pPr lvl="3" algn="ctr">
              <a:spcBef>
                <a:spcPts val="0"/>
              </a:spcBef>
              <a:spcAft>
                <a:spcPts val="0"/>
              </a:spcAft>
              <a:buClr>
                <a:schemeClr val="dk2"/>
              </a:buClr>
              <a:buSzPts val="8600"/>
              <a:buNone/>
              <a:defRPr sz="8600">
                <a:solidFill>
                  <a:schemeClr val="dk2"/>
                </a:solidFill>
              </a:defRPr>
            </a:lvl4pPr>
            <a:lvl5pPr lvl="4" algn="ctr">
              <a:spcBef>
                <a:spcPts val="0"/>
              </a:spcBef>
              <a:spcAft>
                <a:spcPts val="0"/>
              </a:spcAft>
              <a:buClr>
                <a:schemeClr val="dk2"/>
              </a:buClr>
              <a:buSzPts val="8600"/>
              <a:buNone/>
              <a:defRPr sz="8600">
                <a:solidFill>
                  <a:schemeClr val="dk2"/>
                </a:solidFill>
              </a:defRPr>
            </a:lvl5pPr>
            <a:lvl6pPr lvl="5" algn="ctr">
              <a:spcBef>
                <a:spcPts val="0"/>
              </a:spcBef>
              <a:spcAft>
                <a:spcPts val="0"/>
              </a:spcAft>
              <a:buClr>
                <a:schemeClr val="dk2"/>
              </a:buClr>
              <a:buSzPts val="8600"/>
              <a:buNone/>
              <a:defRPr sz="8600">
                <a:solidFill>
                  <a:schemeClr val="dk2"/>
                </a:solidFill>
              </a:defRPr>
            </a:lvl6pPr>
            <a:lvl7pPr lvl="6" algn="ctr">
              <a:spcBef>
                <a:spcPts val="0"/>
              </a:spcBef>
              <a:spcAft>
                <a:spcPts val="0"/>
              </a:spcAft>
              <a:buClr>
                <a:schemeClr val="dk2"/>
              </a:buClr>
              <a:buSzPts val="8600"/>
              <a:buNone/>
              <a:defRPr sz="8600">
                <a:solidFill>
                  <a:schemeClr val="dk2"/>
                </a:solidFill>
              </a:defRPr>
            </a:lvl7pPr>
            <a:lvl8pPr lvl="7" algn="ctr">
              <a:spcBef>
                <a:spcPts val="0"/>
              </a:spcBef>
              <a:spcAft>
                <a:spcPts val="0"/>
              </a:spcAft>
              <a:buClr>
                <a:schemeClr val="dk2"/>
              </a:buClr>
              <a:buSzPts val="8600"/>
              <a:buNone/>
              <a:defRPr sz="8600">
                <a:solidFill>
                  <a:schemeClr val="dk2"/>
                </a:solidFill>
              </a:defRPr>
            </a:lvl8pPr>
            <a:lvl9pPr lvl="8" algn="ctr">
              <a:spcBef>
                <a:spcPts val="0"/>
              </a:spcBef>
              <a:spcAft>
                <a:spcPts val="0"/>
              </a:spcAft>
              <a:buClr>
                <a:schemeClr val="dk2"/>
              </a:buClr>
              <a:buSzPts val="8600"/>
              <a:buNone/>
              <a:defRPr sz="8600">
                <a:solidFill>
                  <a:schemeClr val="dk2"/>
                </a:solidFill>
              </a:defRPr>
            </a:lvl9pPr>
          </a:lstStyle>
          <a:p>
            <a:r>
              <a:t>xx%</a:t>
            </a:r>
          </a:p>
        </p:txBody>
      </p:sp>
      <p:sp>
        <p:nvSpPr>
          <p:cNvPr id="120" name="Google Shape;120;p11"/>
          <p:cNvSpPr txBox="1">
            <a:spLocks noGrp="1"/>
          </p:cNvSpPr>
          <p:nvPr>
            <p:ph type="body" idx="1"/>
          </p:nvPr>
        </p:nvSpPr>
        <p:spPr>
          <a:xfrm>
            <a:off x="1385850" y="2863850"/>
            <a:ext cx="6372300" cy="641100"/>
          </a:xfrm>
          <a:prstGeom prst="rect">
            <a:avLst/>
          </a:prstGeom>
        </p:spPr>
        <p:txBody>
          <a:bodyPr spcFirstLastPara="1" wrap="square" lIns="91425" tIns="91425" rIns="91425" bIns="91425" anchor="t" anchorCtr="0">
            <a:normAutofit/>
          </a:bodyPr>
          <a:lstStyle>
            <a:lvl1pPr marL="457200" lvl="0" indent="-311150" algn="ctr">
              <a:spcBef>
                <a:spcPts val="0"/>
              </a:spcBef>
              <a:spcAft>
                <a:spcPts val="0"/>
              </a:spcAft>
              <a:buSzPts val="13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121" name="Google Shape;121;p11"/>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22"/>
        <p:cNvGrpSpPr/>
        <p:nvPr/>
      </p:nvGrpSpPr>
      <p:grpSpPr>
        <a:xfrm>
          <a:off x="0" y="0"/>
          <a:ext cx="0" cy="0"/>
          <a:chOff x="0" y="0"/>
          <a:chExt cx="0" cy="0"/>
        </a:xfrm>
      </p:grpSpPr>
      <p:sp>
        <p:nvSpPr>
          <p:cNvPr id="123" name="Google Shape;123;p12"/>
          <p:cNvSpPr txBox="1">
            <a:spLocks noGrp="1"/>
          </p:cNvSpPr>
          <p:nvPr>
            <p:ph type="sldNum" idx="12"/>
          </p:nvPr>
        </p:nvSpPr>
        <p:spPr>
          <a:xfrm>
            <a:off x="8390734" y="4543668"/>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hift">
    <p:bg>
      <p:bgPr>
        <a:solidFill>
          <a:schemeClr val="dk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1pPr>
            <a:lvl2pPr lvl="1">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2pPr>
            <a:lvl3pPr lvl="2">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3pPr>
            <a:lvl4pPr lvl="3">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4pPr>
            <a:lvl5pPr lvl="4">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5pPr>
            <a:lvl6pPr lvl="5">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6pPr>
            <a:lvl7pPr lvl="6">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7pPr>
            <a:lvl8pPr lvl="7">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8pPr>
            <a:lvl9pPr lvl="8">
              <a:spcBef>
                <a:spcPts val="0"/>
              </a:spcBef>
              <a:spcAft>
                <a:spcPts val="0"/>
              </a:spcAft>
              <a:buClr>
                <a:schemeClr val="lt1"/>
              </a:buClr>
              <a:buSzPts val="2800"/>
              <a:buFont typeface="Nunito"/>
              <a:buNone/>
              <a:defRPr sz="2800">
                <a:solidFill>
                  <a:schemeClr val="lt1"/>
                </a:solidFill>
                <a:latin typeface="Nunito"/>
                <a:ea typeface="Nunito"/>
                <a:cs typeface="Nunito"/>
                <a:sym typeface="Nunito"/>
              </a:defRPr>
            </a:lvl9pPr>
          </a:lstStyle>
          <a:p>
            <a:endParaRPr/>
          </a:p>
        </p:txBody>
      </p:sp>
      <p:sp>
        <p:nvSpPr>
          <p:cNvPr id="7" name="Google Shape;7;p1"/>
          <p:cNvSpPr txBox="1">
            <a:spLocks noGrp="1"/>
          </p:cNvSpPr>
          <p:nvPr>
            <p:ph type="body" idx="1"/>
          </p:nvPr>
        </p:nvSpPr>
        <p:spPr>
          <a:xfrm>
            <a:off x="311700" y="1152475"/>
            <a:ext cx="8520600" cy="33912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Calibri"/>
              <a:buChar char="●"/>
              <a:defRPr sz="1300">
                <a:solidFill>
                  <a:schemeClr val="dk2"/>
                </a:solidFill>
                <a:latin typeface="Calibri"/>
                <a:ea typeface="Calibri"/>
                <a:cs typeface="Calibri"/>
                <a:sym typeface="Calibri"/>
              </a:defRPr>
            </a:lvl1pPr>
            <a:lvl2pPr marL="914400" lvl="1"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2pPr>
            <a:lvl3pPr marL="1371600" lvl="2"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3pPr>
            <a:lvl4pPr marL="1828800" lvl="3"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4pPr>
            <a:lvl5pPr marL="2286000" lvl="4"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5pPr>
            <a:lvl6pPr marL="2743200" lvl="5"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6pPr>
            <a:lvl7pPr marL="3200400" lvl="6"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7pPr>
            <a:lvl8pPr marL="3657600" lvl="7"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8pPr>
            <a:lvl9pPr marL="4114800" lvl="8" indent="-298450">
              <a:lnSpc>
                <a:spcPct val="115000"/>
              </a:lnSpc>
              <a:spcBef>
                <a:spcPts val="0"/>
              </a:spcBef>
              <a:spcAft>
                <a:spcPts val="0"/>
              </a:spcAft>
              <a:buClr>
                <a:schemeClr val="dk2"/>
              </a:buClr>
              <a:buSzPts val="1100"/>
              <a:buFont typeface="Calibri"/>
              <a:buChar char="■"/>
              <a:defRPr sz="1100">
                <a:solidFill>
                  <a:schemeClr val="dk2"/>
                </a:solidFill>
                <a:latin typeface="Calibri"/>
                <a:ea typeface="Calibri"/>
                <a:cs typeface="Calibri"/>
                <a:sym typeface="Calibri"/>
              </a:defRPr>
            </a:lvl9pPr>
          </a:lstStyle>
          <a:p>
            <a:endParaRPr/>
          </a:p>
        </p:txBody>
      </p:sp>
      <p:sp>
        <p:nvSpPr>
          <p:cNvPr id="8" name="Google Shape;8;p1"/>
          <p:cNvSpPr txBox="1">
            <a:spLocks noGrp="1"/>
          </p:cNvSpPr>
          <p:nvPr>
            <p:ph type="sldNum" idx="12"/>
          </p:nvPr>
        </p:nvSpPr>
        <p:spPr>
          <a:xfrm>
            <a:off x="8390734" y="4543668"/>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Nunito"/>
                <a:ea typeface="Nunito"/>
                <a:cs typeface="Nunito"/>
                <a:sym typeface="Nunito"/>
              </a:defRPr>
            </a:lvl1pPr>
            <a:lvl2pPr lvl="1" algn="r">
              <a:buNone/>
              <a:defRPr sz="1000">
                <a:solidFill>
                  <a:schemeClr val="dk2"/>
                </a:solidFill>
                <a:latin typeface="Nunito"/>
                <a:ea typeface="Nunito"/>
                <a:cs typeface="Nunito"/>
                <a:sym typeface="Nunito"/>
              </a:defRPr>
            </a:lvl2pPr>
            <a:lvl3pPr lvl="2" algn="r">
              <a:buNone/>
              <a:defRPr sz="1000">
                <a:solidFill>
                  <a:schemeClr val="dk2"/>
                </a:solidFill>
                <a:latin typeface="Nunito"/>
                <a:ea typeface="Nunito"/>
                <a:cs typeface="Nunito"/>
                <a:sym typeface="Nunito"/>
              </a:defRPr>
            </a:lvl3pPr>
            <a:lvl4pPr lvl="3" algn="r">
              <a:buNone/>
              <a:defRPr sz="1000">
                <a:solidFill>
                  <a:schemeClr val="dk2"/>
                </a:solidFill>
                <a:latin typeface="Nunito"/>
                <a:ea typeface="Nunito"/>
                <a:cs typeface="Nunito"/>
                <a:sym typeface="Nunito"/>
              </a:defRPr>
            </a:lvl4pPr>
            <a:lvl5pPr lvl="4" algn="r">
              <a:buNone/>
              <a:defRPr sz="1000">
                <a:solidFill>
                  <a:schemeClr val="dk2"/>
                </a:solidFill>
                <a:latin typeface="Nunito"/>
                <a:ea typeface="Nunito"/>
                <a:cs typeface="Nunito"/>
                <a:sym typeface="Nunito"/>
              </a:defRPr>
            </a:lvl5pPr>
            <a:lvl6pPr lvl="5" algn="r">
              <a:buNone/>
              <a:defRPr sz="1000">
                <a:solidFill>
                  <a:schemeClr val="dk2"/>
                </a:solidFill>
                <a:latin typeface="Nunito"/>
                <a:ea typeface="Nunito"/>
                <a:cs typeface="Nunito"/>
                <a:sym typeface="Nunito"/>
              </a:defRPr>
            </a:lvl6pPr>
            <a:lvl7pPr lvl="6" algn="r">
              <a:buNone/>
              <a:defRPr sz="1000">
                <a:solidFill>
                  <a:schemeClr val="dk2"/>
                </a:solidFill>
                <a:latin typeface="Nunito"/>
                <a:ea typeface="Nunito"/>
                <a:cs typeface="Nunito"/>
                <a:sym typeface="Nunito"/>
              </a:defRPr>
            </a:lvl7pPr>
            <a:lvl8pPr lvl="7" algn="r">
              <a:buNone/>
              <a:defRPr sz="1000">
                <a:solidFill>
                  <a:schemeClr val="dk2"/>
                </a:solidFill>
                <a:latin typeface="Nunito"/>
                <a:ea typeface="Nunito"/>
                <a:cs typeface="Nunito"/>
                <a:sym typeface="Nunito"/>
              </a:defRPr>
            </a:lvl8pPr>
            <a:lvl9pPr lvl="8" algn="r">
              <a:buNone/>
              <a:defRPr sz="1000">
                <a:solidFill>
                  <a:schemeClr val="dk2"/>
                </a:solidFill>
                <a:latin typeface="Nunito"/>
                <a:ea typeface="Nunito"/>
                <a:cs typeface="Nunito"/>
                <a:sym typeface="Nunito"/>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hyperlink" Target="mailto:gianella.forttini.v@uni.pe"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hyperlink" Target="https://gforttini97.github.io/GRUPO3-MDS-VISUALIZACION-TRABAJO-FINAL/mapas/mapa_homicidio_peru_provincias.html" TargetMode="External"/><Relationship Id="rId4" Type="http://schemas.openxmlformats.org/officeDocument/2006/relationships/hyperlink" Target="https://gforttini97.github.io/GRUPO3-MDS-VISUALIZACION-TRABAJO-FINAL/mapas/mapa_extorsion_peru_provincias.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forttini97/GRUPO3-MDS-VISUALIZACION-TRABAJO-FINAL"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pic>
        <p:nvPicPr>
          <p:cNvPr id="128" name="Google Shape;128;p13"/>
          <p:cNvPicPr preferRelativeResize="0"/>
          <p:nvPr/>
        </p:nvPicPr>
        <p:blipFill>
          <a:blip r:embed="rId3">
            <a:alphaModFix/>
          </a:blip>
          <a:stretch>
            <a:fillRect/>
          </a:stretch>
        </p:blipFill>
        <p:spPr>
          <a:xfrm>
            <a:off x="262251" y="282787"/>
            <a:ext cx="3640500" cy="4577929"/>
          </a:xfrm>
          <a:prstGeom prst="rect">
            <a:avLst/>
          </a:prstGeom>
          <a:noFill/>
          <a:ln>
            <a:noFill/>
          </a:ln>
        </p:spPr>
      </p:pic>
      <p:sp>
        <p:nvSpPr>
          <p:cNvPr id="129" name="Google Shape;129;p13"/>
          <p:cNvSpPr txBox="1"/>
          <p:nvPr/>
        </p:nvSpPr>
        <p:spPr>
          <a:xfrm>
            <a:off x="3902750" y="282750"/>
            <a:ext cx="4636800" cy="45780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t" anchorCtr="0">
            <a:noAutofit/>
          </a:bodyPr>
          <a:lstStyle/>
          <a:p>
            <a:pPr marL="0" lvl="0" indent="0" algn="ctr" rtl="0">
              <a:spcBef>
                <a:spcPts val="0"/>
              </a:spcBef>
              <a:spcAft>
                <a:spcPts val="0"/>
              </a:spcAft>
              <a:buNone/>
            </a:pPr>
            <a:r>
              <a:rPr lang="es" sz="2200" b="1" dirty="0"/>
              <a:t>Maestría en Ciencia de Datos</a:t>
            </a:r>
            <a:endParaRPr sz="2200" b="1" dirty="0"/>
          </a:p>
          <a:p>
            <a:pPr marL="0" lvl="0" indent="0" algn="ctr" rtl="0">
              <a:spcBef>
                <a:spcPts val="0"/>
              </a:spcBef>
              <a:spcAft>
                <a:spcPts val="0"/>
              </a:spcAft>
              <a:buNone/>
            </a:pPr>
            <a:endParaRPr sz="1800" b="1" dirty="0"/>
          </a:p>
          <a:p>
            <a:pPr marL="0" lvl="0" indent="0" algn="ctr" rtl="0">
              <a:spcBef>
                <a:spcPts val="0"/>
              </a:spcBef>
              <a:spcAft>
                <a:spcPts val="0"/>
              </a:spcAft>
              <a:buNone/>
            </a:pPr>
            <a:r>
              <a:rPr lang="es" sz="2200" b="1" dirty="0"/>
              <a:t>Visualización de Datos</a:t>
            </a:r>
            <a:endParaRPr sz="2200" b="1" dirty="0"/>
          </a:p>
          <a:p>
            <a:pPr marL="0" lvl="0" indent="0" algn="ctr" rtl="0">
              <a:spcBef>
                <a:spcPts val="0"/>
              </a:spcBef>
              <a:spcAft>
                <a:spcPts val="0"/>
              </a:spcAft>
              <a:buNone/>
            </a:pPr>
            <a:endParaRPr sz="2200" b="1" dirty="0"/>
          </a:p>
          <a:p>
            <a:pPr marL="0" lvl="0" indent="0" algn="ctr" rtl="0">
              <a:spcBef>
                <a:spcPts val="0"/>
              </a:spcBef>
              <a:spcAft>
                <a:spcPts val="0"/>
              </a:spcAft>
              <a:buNone/>
            </a:pPr>
            <a:r>
              <a:rPr lang="es" sz="2200" b="1" dirty="0"/>
              <a:t>Criminalidad en el Perú: Recrudecimiento de la violencia</a:t>
            </a:r>
            <a:endParaRPr sz="2200" b="1" dirty="0"/>
          </a:p>
          <a:p>
            <a:pPr marL="0" lvl="0" indent="457200" algn="l" rtl="0">
              <a:spcBef>
                <a:spcPts val="0"/>
              </a:spcBef>
              <a:spcAft>
                <a:spcPts val="0"/>
              </a:spcAft>
              <a:buNone/>
            </a:pPr>
            <a:endParaRPr sz="1800" b="1" dirty="0"/>
          </a:p>
          <a:p>
            <a:pPr marL="0" lvl="0" indent="457200" algn="l" rtl="0">
              <a:spcBef>
                <a:spcPts val="0"/>
              </a:spcBef>
              <a:spcAft>
                <a:spcPts val="0"/>
              </a:spcAft>
              <a:buNone/>
            </a:pPr>
            <a:endParaRPr sz="1800" b="1" dirty="0"/>
          </a:p>
          <a:p>
            <a:pPr marL="0" lvl="0" indent="457200" algn="l" rtl="0">
              <a:spcBef>
                <a:spcPts val="0"/>
              </a:spcBef>
              <a:spcAft>
                <a:spcPts val="0"/>
              </a:spcAft>
              <a:buNone/>
            </a:pPr>
            <a:r>
              <a:rPr lang="es" sz="1800" b="1" dirty="0"/>
              <a:t>Integrantes:</a:t>
            </a:r>
            <a:endParaRPr sz="1800" b="1" dirty="0"/>
          </a:p>
          <a:p>
            <a:pPr marL="0" lvl="0" indent="0" algn="l" rtl="0">
              <a:spcBef>
                <a:spcPts val="0"/>
              </a:spcBef>
              <a:spcAft>
                <a:spcPts val="0"/>
              </a:spcAft>
              <a:buNone/>
            </a:pPr>
            <a:endParaRPr sz="1800" b="1" dirty="0"/>
          </a:p>
          <a:p>
            <a:pPr marL="457200" lvl="0" indent="0" algn="l" rtl="0">
              <a:spcBef>
                <a:spcPts val="0"/>
              </a:spcBef>
              <a:spcAft>
                <a:spcPts val="0"/>
              </a:spcAft>
              <a:buNone/>
            </a:pPr>
            <a:r>
              <a:rPr lang="es" sz="1800" b="1" dirty="0"/>
              <a:t>Víctor Escobar</a:t>
            </a:r>
            <a:endParaRPr sz="1800" b="1" dirty="0"/>
          </a:p>
          <a:p>
            <a:pPr marL="457200" lvl="0" indent="0" algn="l" rtl="0">
              <a:spcBef>
                <a:spcPts val="0"/>
              </a:spcBef>
              <a:spcAft>
                <a:spcPts val="0"/>
              </a:spcAft>
              <a:buNone/>
            </a:pPr>
            <a:r>
              <a:rPr lang="es" sz="1800" b="1" dirty="0"/>
              <a:t>Gianella Forttini (</a:t>
            </a:r>
            <a:r>
              <a:rPr lang="es" sz="1800" b="1" dirty="0">
                <a:hlinkClick r:id="rId4"/>
              </a:rPr>
              <a:t>gianella.forttini.v@uni.pe</a:t>
            </a:r>
            <a:r>
              <a:rPr lang="es" sz="1800" b="1" dirty="0"/>
              <a:t>)</a:t>
            </a:r>
            <a:endParaRPr sz="1800" b="1" dirty="0"/>
          </a:p>
          <a:p>
            <a:pPr marL="457200" lvl="0" indent="0" algn="l" rtl="0">
              <a:spcBef>
                <a:spcPts val="0"/>
              </a:spcBef>
              <a:spcAft>
                <a:spcPts val="0"/>
              </a:spcAft>
              <a:buNone/>
            </a:pPr>
            <a:r>
              <a:rPr lang="es" sz="1800" b="1" dirty="0"/>
              <a:t>Christian Gutiérrez</a:t>
            </a:r>
            <a:endParaRPr sz="1800" b="1" dirty="0"/>
          </a:p>
          <a:p>
            <a:pPr marL="457200" lvl="0" indent="0" algn="l" rtl="0">
              <a:spcBef>
                <a:spcPts val="0"/>
              </a:spcBef>
              <a:spcAft>
                <a:spcPts val="0"/>
              </a:spcAft>
              <a:buNone/>
            </a:pPr>
            <a:r>
              <a:rPr lang="es" sz="1800" b="1" dirty="0"/>
              <a:t>Lloyd Laura</a:t>
            </a:r>
            <a:endParaRPr sz="1800" b="1" dirty="0"/>
          </a:p>
          <a:p>
            <a:pPr marL="0" lvl="0" indent="0" algn="l" rtl="0">
              <a:spcBef>
                <a:spcPts val="0"/>
              </a:spcBef>
              <a:spcAft>
                <a:spcPts val="0"/>
              </a:spcAft>
              <a:buNone/>
            </a:pPr>
            <a:endParaRPr sz="1800" dirty="0"/>
          </a:p>
          <a:p>
            <a:pPr marL="0" lvl="0" indent="0" algn="l" rtl="0">
              <a:spcBef>
                <a:spcPts val="0"/>
              </a:spcBef>
              <a:spcAft>
                <a:spcPts val="0"/>
              </a:spcAft>
              <a:buNone/>
            </a:pPr>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4"/>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Criminalidad en el Perú</a:t>
            </a:r>
            <a:endParaRPr sz="1800" b="1"/>
          </a:p>
          <a:p>
            <a:pPr marL="0" lvl="0" indent="0" algn="l" rtl="0">
              <a:spcBef>
                <a:spcPts val="0"/>
              </a:spcBef>
              <a:spcAft>
                <a:spcPts val="0"/>
              </a:spcAft>
              <a:buNone/>
            </a:pPr>
            <a:endParaRPr sz="1800" b="1">
              <a:solidFill>
                <a:schemeClr val="dk2"/>
              </a:solidFill>
            </a:endParaRPr>
          </a:p>
        </p:txBody>
      </p:sp>
      <p:sp>
        <p:nvSpPr>
          <p:cNvPr id="135" name="Google Shape;135;p14"/>
          <p:cNvSpPr txBox="1"/>
          <p:nvPr/>
        </p:nvSpPr>
        <p:spPr>
          <a:xfrm>
            <a:off x="426075" y="715450"/>
            <a:ext cx="8130900" cy="33402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0"/>
              </a:spcAft>
              <a:buNone/>
            </a:pPr>
            <a:r>
              <a:rPr lang="es"/>
              <a:t>Entre los años 2018 - 2025, el Perú experimentado transformaciones importantes en distintos ámbitos. Uno de los temas que ha permanecido en el centro de la preocupación ciudadana es la delincuencia.</a:t>
            </a:r>
            <a:endParaRPr/>
          </a:p>
          <a:p>
            <a:pPr marL="0" lvl="0" indent="0" algn="just" rtl="0">
              <a:lnSpc>
                <a:spcPct val="115000"/>
              </a:lnSpc>
              <a:spcBef>
                <a:spcPts val="1200"/>
              </a:spcBef>
              <a:spcAft>
                <a:spcPts val="0"/>
              </a:spcAft>
              <a:buNone/>
            </a:pPr>
            <a:r>
              <a:rPr lang="es"/>
              <a:t>Sin embargo, ¿esta preocupación sólo es un tema de percepción como indican algunas autoridades?, o ¿sí es un problema que aqueja a algunos más que otros y cuyas causas deben ser identificadas para establecer políticas de gobierno con el objetivo de erradicarla?</a:t>
            </a:r>
            <a:endParaRPr/>
          </a:p>
          <a:p>
            <a:pPr marL="0" lvl="0" indent="0" algn="just" rtl="0">
              <a:lnSpc>
                <a:spcPct val="115000"/>
              </a:lnSpc>
              <a:spcBef>
                <a:spcPts val="1200"/>
              </a:spcBef>
              <a:spcAft>
                <a:spcPts val="0"/>
              </a:spcAft>
              <a:buNone/>
            </a:pPr>
            <a:r>
              <a:rPr lang="es"/>
              <a:t>Para ello, el reporte cuenta con la siguiente información:</a:t>
            </a:r>
            <a:endParaRPr/>
          </a:p>
          <a:p>
            <a:pPr marL="457200" lvl="0" indent="-317500" algn="just" rtl="0">
              <a:lnSpc>
                <a:spcPct val="115000"/>
              </a:lnSpc>
              <a:spcBef>
                <a:spcPts val="1200"/>
              </a:spcBef>
              <a:spcAft>
                <a:spcPts val="0"/>
              </a:spcAft>
              <a:buSzPts val="1400"/>
              <a:buChar char="●"/>
            </a:pPr>
            <a:r>
              <a:rPr lang="es"/>
              <a:t>Base de datos de denuncias policiales emitido por el Gobierno del Perú.</a:t>
            </a:r>
            <a:endParaRPr/>
          </a:p>
          <a:p>
            <a:pPr marL="457200" lvl="0" indent="-317500" algn="just" rtl="0">
              <a:lnSpc>
                <a:spcPct val="115000"/>
              </a:lnSpc>
              <a:spcBef>
                <a:spcPts val="0"/>
              </a:spcBef>
              <a:spcAft>
                <a:spcPts val="0"/>
              </a:spcAft>
              <a:buSzPts val="1400"/>
              <a:buChar char="●"/>
            </a:pPr>
            <a:r>
              <a:rPr lang="es"/>
              <a:t>Base de datos de personal policial emitido por el Gobierno del Perú. </a:t>
            </a:r>
            <a:endParaRPr/>
          </a:p>
          <a:p>
            <a:pPr marL="457200" lvl="0" indent="-317500" algn="just" rtl="0">
              <a:lnSpc>
                <a:spcPct val="115000"/>
              </a:lnSpc>
              <a:spcBef>
                <a:spcPts val="0"/>
              </a:spcBef>
              <a:spcAft>
                <a:spcPts val="0"/>
              </a:spcAft>
              <a:buSzPts val="1400"/>
              <a:buChar char="●"/>
            </a:pPr>
            <a:r>
              <a:rPr lang="es"/>
              <a:t>Base de datos de población del Instituto Nacional de Estadística e Informática.</a:t>
            </a:r>
            <a:endParaRPr/>
          </a:p>
          <a:p>
            <a:pPr marL="457200" lvl="0" indent="-317500" algn="just" rtl="0">
              <a:lnSpc>
                <a:spcPct val="115000"/>
              </a:lnSpc>
              <a:spcBef>
                <a:spcPts val="0"/>
              </a:spcBef>
              <a:spcAft>
                <a:spcPts val="0"/>
              </a:spcAft>
              <a:buSzPts val="1400"/>
              <a:buChar char="●"/>
            </a:pPr>
            <a:r>
              <a:rPr lang="es"/>
              <a:t>Encuestas de opinión elaboradas por Ipsos Apoyo.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15"/>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Percepción de la criminalidad</a:t>
            </a:r>
            <a:endParaRPr sz="1800" b="1"/>
          </a:p>
          <a:p>
            <a:pPr marL="0" lvl="0" indent="0" algn="l" rtl="0">
              <a:spcBef>
                <a:spcPts val="0"/>
              </a:spcBef>
              <a:spcAft>
                <a:spcPts val="0"/>
              </a:spcAft>
              <a:buNone/>
            </a:pPr>
            <a:endParaRPr sz="1800" b="1">
              <a:solidFill>
                <a:schemeClr val="dk2"/>
              </a:solidFill>
            </a:endParaRPr>
          </a:p>
        </p:txBody>
      </p:sp>
      <p:sp>
        <p:nvSpPr>
          <p:cNvPr id="141" name="Google Shape;141;p15"/>
          <p:cNvSpPr txBox="1"/>
          <p:nvPr/>
        </p:nvSpPr>
        <p:spPr>
          <a:xfrm>
            <a:off x="426075" y="715450"/>
            <a:ext cx="8130900" cy="8958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De acuerdo a la Encuesta de Balance de Fin de Año 2025 elaborado por Ipsos Apoyo, los dos principales eventos o sucesos del año para el Perú en términos negativos están relacionados a la criminalidad:</a:t>
            </a:r>
            <a:endParaRPr/>
          </a:p>
        </p:txBody>
      </p:sp>
      <p:pic>
        <p:nvPicPr>
          <p:cNvPr id="142" name="Google Shape;142;p15"/>
          <p:cNvPicPr preferRelativeResize="0"/>
          <p:nvPr/>
        </p:nvPicPr>
        <p:blipFill>
          <a:blip r:embed="rId3">
            <a:alphaModFix/>
          </a:blip>
          <a:stretch>
            <a:fillRect/>
          </a:stretch>
        </p:blipFill>
        <p:spPr>
          <a:xfrm>
            <a:off x="1003450" y="1611250"/>
            <a:ext cx="7137102" cy="2896975"/>
          </a:xfrm>
          <a:prstGeom prst="rect">
            <a:avLst/>
          </a:prstGeom>
          <a:noFill/>
          <a:ln>
            <a:noFill/>
          </a:ln>
        </p:spPr>
      </p:pic>
      <p:sp>
        <p:nvSpPr>
          <p:cNvPr id="143" name="Google Shape;143;p15"/>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6"/>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Evolución de la criminalidad</a:t>
            </a:r>
            <a:endParaRPr sz="1800" b="1"/>
          </a:p>
          <a:p>
            <a:pPr marL="0" lvl="0" indent="0" algn="l" rtl="0">
              <a:spcBef>
                <a:spcPts val="0"/>
              </a:spcBef>
              <a:spcAft>
                <a:spcPts val="0"/>
              </a:spcAft>
              <a:buNone/>
            </a:pPr>
            <a:endParaRPr sz="1800" b="1">
              <a:solidFill>
                <a:schemeClr val="dk2"/>
              </a:solidFill>
            </a:endParaRPr>
          </a:p>
        </p:txBody>
      </p:sp>
      <p:sp>
        <p:nvSpPr>
          <p:cNvPr id="149" name="Google Shape;149;p16"/>
          <p:cNvSpPr txBox="1"/>
          <p:nvPr/>
        </p:nvSpPr>
        <p:spPr>
          <a:xfrm>
            <a:off x="426075" y="715450"/>
            <a:ext cx="8130900" cy="13914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No obstante, el aumento de la percepción de la criminalidad tiene su correlato en datos. Para ello, se considera como una variable para medir la criminalidad las denuncias policiales. El gráfico muestra que un aumento de las denuncias policiales a partir del 2020 hasta 2023, no obstante, se muestra una disminución en los siguientes dos años. Entonces, ¿el aumento de la percepción de la criminalidad no tiene ningún asidero?</a:t>
            </a:r>
            <a:endParaRPr/>
          </a:p>
        </p:txBody>
      </p:sp>
      <p:pic>
        <p:nvPicPr>
          <p:cNvPr id="150" name="Google Shape;150;p16"/>
          <p:cNvPicPr preferRelativeResize="0"/>
          <p:nvPr/>
        </p:nvPicPr>
        <p:blipFill>
          <a:blip r:embed="rId3">
            <a:alphaModFix/>
          </a:blip>
          <a:stretch>
            <a:fillRect/>
          </a:stretch>
        </p:blipFill>
        <p:spPr>
          <a:xfrm>
            <a:off x="1930775" y="2200675"/>
            <a:ext cx="5121500" cy="2307550"/>
          </a:xfrm>
          <a:prstGeom prst="rect">
            <a:avLst/>
          </a:prstGeom>
          <a:noFill/>
          <a:ln>
            <a:noFill/>
          </a:ln>
        </p:spPr>
      </p:pic>
      <p:sp>
        <p:nvSpPr>
          <p:cNvPr id="151" name="Google Shape;151;p16"/>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17"/>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Recrudecimiento de la criminalidad</a:t>
            </a:r>
            <a:endParaRPr sz="1800" b="1"/>
          </a:p>
          <a:p>
            <a:pPr marL="0" lvl="0" indent="0" algn="l" rtl="0">
              <a:spcBef>
                <a:spcPts val="0"/>
              </a:spcBef>
              <a:spcAft>
                <a:spcPts val="0"/>
              </a:spcAft>
              <a:buNone/>
            </a:pPr>
            <a:endParaRPr sz="1800" b="1">
              <a:solidFill>
                <a:schemeClr val="dk2"/>
              </a:solidFill>
            </a:endParaRPr>
          </a:p>
        </p:txBody>
      </p:sp>
      <p:sp>
        <p:nvSpPr>
          <p:cNvPr id="157" name="Google Shape;157;p17"/>
          <p:cNvSpPr txBox="1"/>
          <p:nvPr/>
        </p:nvSpPr>
        <p:spPr>
          <a:xfrm>
            <a:off x="426075" y="715450"/>
            <a:ext cx="8130900" cy="13914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A pesar que se observa una disminución en las denuncias policiales los últimos dos años, los dos peores tipos de crímenes que son homicidio y extorsión aumentaron desde las 1,076 y 3,225 denuncias en el 2018 hasta las 2,706 y 26,748 denuncias en el 2015, siendo la tasa de crecimiento anual 6% y 33%, respectivamente. Pero, ¿este aumento sucedió de manera proporcional en todo el país o en unas zonas más que otras?</a:t>
            </a:r>
            <a:endParaRPr/>
          </a:p>
        </p:txBody>
      </p:sp>
      <p:pic>
        <p:nvPicPr>
          <p:cNvPr id="158" name="Google Shape;158;p17"/>
          <p:cNvPicPr preferRelativeResize="0"/>
          <p:nvPr/>
        </p:nvPicPr>
        <p:blipFill>
          <a:blip r:embed="rId3">
            <a:alphaModFix/>
          </a:blip>
          <a:stretch>
            <a:fillRect/>
          </a:stretch>
        </p:blipFill>
        <p:spPr>
          <a:xfrm>
            <a:off x="426075" y="2341575"/>
            <a:ext cx="4056300" cy="2237375"/>
          </a:xfrm>
          <a:prstGeom prst="rect">
            <a:avLst/>
          </a:prstGeom>
          <a:noFill/>
          <a:ln>
            <a:noFill/>
          </a:ln>
        </p:spPr>
      </p:pic>
      <p:pic>
        <p:nvPicPr>
          <p:cNvPr id="159" name="Google Shape;159;p17"/>
          <p:cNvPicPr preferRelativeResize="0"/>
          <p:nvPr/>
        </p:nvPicPr>
        <p:blipFill>
          <a:blip r:embed="rId4">
            <a:alphaModFix/>
          </a:blip>
          <a:stretch>
            <a:fillRect/>
          </a:stretch>
        </p:blipFill>
        <p:spPr>
          <a:xfrm>
            <a:off x="4793550" y="2341575"/>
            <a:ext cx="4056299" cy="2200675"/>
          </a:xfrm>
          <a:prstGeom prst="rect">
            <a:avLst/>
          </a:prstGeom>
          <a:noFill/>
          <a:ln>
            <a:noFill/>
          </a:ln>
        </p:spPr>
      </p:pic>
      <p:sp>
        <p:nvSpPr>
          <p:cNvPr id="160" name="Google Shape;160;p17"/>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8"/>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Focalización geográfica de la criminalidad</a:t>
            </a:r>
            <a:endParaRPr sz="1800" b="1"/>
          </a:p>
          <a:p>
            <a:pPr marL="0" lvl="0" indent="0" algn="l" rtl="0">
              <a:spcBef>
                <a:spcPts val="0"/>
              </a:spcBef>
              <a:spcAft>
                <a:spcPts val="0"/>
              </a:spcAft>
              <a:buNone/>
            </a:pPr>
            <a:endParaRPr sz="1800" b="1">
              <a:solidFill>
                <a:schemeClr val="dk2"/>
              </a:solidFill>
            </a:endParaRPr>
          </a:p>
        </p:txBody>
      </p:sp>
      <p:sp>
        <p:nvSpPr>
          <p:cNvPr id="166" name="Google Shape;166;p18"/>
          <p:cNvSpPr txBox="1"/>
          <p:nvPr/>
        </p:nvSpPr>
        <p:spPr>
          <a:xfrm>
            <a:off x="426075" y="715450"/>
            <a:ext cx="8130900" cy="8958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La criminalidad aumentó en todos el país, no obstante, se observa que las extorsiones y homicidios tienen una tendencia creciente en el departamento de Lima - zona del país con mayor índice de criminalidad - seguidamente de la Zona Norte en el caso de las extorsiones.</a:t>
            </a:r>
            <a:endParaRPr/>
          </a:p>
        </p:txBody>
      </p:sp>
      <p:pic>
        <p:nvPicPr>
          <p:cNvPr id="167" name="Google Shape;167;p18"/>
          <p:cNvPicPr preferRelativeResize="0"/>
          <p:nvPr/>
        </p:nvPicPr>
        <p:blipFill>
          <a:blip r:embed="rId3">
            <a:alphaModFix/>
          </a:blip>
          <a:stretch>
            <a:fillRect/>
          </a:stretch>
        </p:blipFill>
        <p:spPr>
          <a:xfrm>
            <a:off x="554300" y="1942325"/>
            <a:ext cx="4168674" cy="2501200"/>
          </a:xfrm>
          <a:prstGeom prst="rect">
            <a:avLst/>
          </a:prstGeom>
          <a:noFill/>
          <a:ln>
            <a:noFill/>
          </a:ln>
        </p:spPr>
      </p:pic>
      <p:pic>
        <p:nvPicPr>
          <p:cNvPr id="168" name="Google Shape;168;p18"/>
          <p:cNvPicPr preferRelativeResize="0"/>
          <p:nvPr/>
        </p:nvPicPr>
        <p:blipFill>
          <a:blip r:embed="rId4">
            <a:alphaModFix/>
          </a:blip>
          <a:stretch>
            <a:fillRect/>
          </a:stretch>
        </p:blipFill>
        <p:spPr>
          <a:xfrm>
            <a:off x="4722975" y="1942325"/>
            <a:ext cx="4168674" cy="2501200"/>
          </a:xfrm>
          <a:prstGeom prst="rect">
            <a:avLst/>
          </a:prstGeom>
          <a:noFill/>
          <a:ln>
            <a:noFill/>
          </a:ln>
        </p:spPr>
      </p:pic>
      <p:sp>
        <p:nvSpPr>
          <p:cNvPr id="169" name="Google Shape;169;p18"/>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19"/>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Focalización geográfica de la criminalidad</a:t>
            </a:r>
            <a:endParaRPr sz="1800" b="1"/>
          </a:p>
          <a:p>
            <a:pPr marL="0" lvl="0" indent="0" algn="l" rtl="0">
              <a:spcBef>
                <a:spcPts val="0"/>
              </a:spcBef>
              <a:spcAft>
                <a:spcPts val="0"/>
              </a:spcAft>
              <a:buNone/>
            </a:pPr>
            <a:endParaRPr sz="1800" b="1">
              <a:solidFill>
                <a:schemeClr val="dk2"/>
              </a:solidFill>
            </a:endParaRPr>
          </a:p>
        </p:txBody>
      </p:sp>
      <p:sp>
        <p:nvSpPr>
          <p:cNvPr id="175" name="Google Shape;175;p19"/>
          <p:cNvSpPr txBox="1"/>
          <p:nvPr/>
        </p:nvSpPr>
        <p:spPr>
          <a:xfrm>
            <a:off x="426075" y="715450"/>
            <a:ext cx="8130900" cy="8958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Se observa que la el mayor porcentaje de extorsiones es la zona de LIMA, ZONA NORTE con 50.7% y 37.5% respectivamente. no obstante, se observa por la parte de homicidios LIMA, ZONA NORTE con 53.4% y 20.4% respectivamente en el año 2025.</a:t>
            </a:r>
            <a:endParaRPr/>
          </a:p>
        </p:txBody>
      </p:sp>
      <p:pic>
        <p:nvPicPr>
          <p:cNvPr id="176" name="Google Shape;176;p19"/>
          <p:cNvPicPr preferRelativeResize="0"/>
          <p:nvPr/>
        </p:nvPicPr>
        <p:blipFill>
          <a:blip r:embed="rId3">
            <a:alphaModFix/>
          </a:blip>
          <a:stretch>
            <a:fillRect/>
          </a:stretch>
        </p:blipFill>
        <p:spPr>
          <a:xfrm>
            <a:off x="649850" y="1866324"/>
            <a:ext cx="3800051" cy="1903225"/>
          </a:xfrm>
          <a:prstGeom prst="rect">
            <a:avLst/>
          </a:prstGeom>
          <a:noFill/>
          <a:ln>
            <a:noFill/>
          </a:ln>
        </p:spPr>
      </p:pic>
      <p:pic>
        <p:nvPicPr>
          <p:cNvPr id="177" name="Google Shape;177;p19"/>
          <p:cNvPicPr preferRelativeResize="0"/>
          <p:nvPr/>
        </p:nvPicPr>
        <p:blipFill>
          <a:blip r:embed="rId4">
            <a:alphaModFix/>
          </a:blip>
          <a:stretch>
            <a:fillRect/>
          </a:stretch>
        </p:blipFill>
        <p:spPr>
          <a:xfrm>
            <a:off x="4628325" y="1859915"/>
            <a:ext cx="3800051" cy="1909647"/>
          </a:xfrm>
          <a:prstGeom prst="rect">
            <a:avLst/>
          </a:prstGeom>
          <a:noFill/>
          <a:ln>
            <a:noFill/>
          </a:ln>
        </p:spPr>
      </p:pic>
      <p:sp>
        <p:nvSpPr>
          <p:cNvPr id="178" name="Google Shape;178;p19"/>
          <p:cNvSpPr txBox="1"/>
          <p:nvPr/>
        </p:nvSpPr>
        <p:spPr>
          <a:xfrm>
            <a:off x="649850" y="4092275"/>
            <a:ext cx="3762600" cy="4494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
        <p:nvSpPr>
          <p:cNvPr id="179" name="Google Shape;179;p19"/>
          <p:cNvSpPr txBox="1"/>
          <p:nvPr/>
        </p:nvSpPr>
        <p:spPr>
          <a:xfrm>
            <a:off x="4572000" y="4094495"/>
            <a:ext cx="3762600" cy="4494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20"/>
          <p:cNvSpPr txBox="1">
            <a:spLocks noGrp="1"/>
          </p:cNvSpPr>
          <p:nvPr>
            <p:ph type="title"/>
          </p:nvPr>
        </p:nvSpPr>
        <p:spPr>
          <a:xfrm>
            <a:off x="895125" y="690825"/>
            <a:ext cx="7505700" cy="95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s" sz="1100">
                <a:solidFill>
                  <a:srgbClr val="000000"/>
                </a:solidFill>
                <a:latin typeface="Arial"/>
                <a:ea typeface="Arial"/>
                <a:cs typeface="Arial"/>
                <a:sym typeface="Arial"/>
              </a:rPr>
              <a:t>En los años más recientes, destacan Lima Metropolitana y la costa norte del país</a:t>
            </a:r>
            <a:r>
              <a:rPr lang="es" sz="1100" b="1">
                <a:solidFill>
                  <a:srgbClr val="000000"/>
                </a:solidFill>
                <a:latin typeface="Arial"/>
                <a:ea typeface="Arial"/>
                <a:cs typeface="Arial"/>
                <a:sym typeface="Arial"/>
              </a:rPr>
              <a:t>, </a:t>
            </a:r>
            <a:r>
              <a:rPr lang="es" sz="1100">
                <a:solidFill>
                  <a:srgbClr val="000000"/>
                </a:solidFill>
                <a:latin typeface="Arial"/>
                <a:ea typeface="Arial"/>
                <a:cs typeface="Arial"/>
                <a:sym typeface="Arial"/>
              </a:rPr>
              <a:t>principalmente La</a:t>
            </a:r>
            <a:r>
              <a:rPr lang="es" sz="1100" b="1">
                <a:solidFill>
                  <a:srgbClr val="000000"/>
                </a:solidFill>
                <a:latin typeface="Arial"/>
                <a:ea typeface="Arial"/>
                <a:cs typeface="Arial"/>
                <a:sym typeface="Arial"/>
              </a:rPr>
              <a:t> </a:t>
            </a:r>
            <a:r>
              <a:rPr lang="es" sz="1100">
                <a:solidFill>
                  <a:srgbClr val="000000"/>
                </a:solidFill>
                <a:latin typeface="Arial"/>
                <a:ea typeface="Arial"/>
                <a:cs typeface="Arial"/>
                <a:sym typeface="Arial"/>
              </a:rPr>
              <a:t>Libertad y Piura, donde la intensidad del color refleja un incremento significativo en el número de denuncias. Este comportamiento sugiere una expansión del delito hacia zonas urbanas y económicamente dinámicas, consolidando focos críticos de extorsión.</a:t>
            </a:r>
            <a:endParaRPr/>
          </a:p>
        </p:txBody>
      </p:sp>
      <p:pic>
        <p:nvPicPr>
          <p:cNvPr id="185" name="Google Shape;185;p20"/>
          <p:cNvPicPr preferRelativeResize="0"/>
          <p:nvPr/>
        </p:nvPicPr>
        <p:blipFill>
          <a:blip r:embed="rId3">
            <a:alphaModFix/>
          </a:blip>
          <a:stretch>
            <a:fillRect/>
          </a:stretch>
        </p:blipFill>
        <p:spPr>
          <a:xfrm>
            <a:off x="2043101" y="1418725"/>
            <a:ext cx="6357726" cy="3226451"/>
          </a:xfrm>
          <a:prstGeom prst="rect">
            <a:avLst/>
          </a:prstGeom>
          <a:noFill/>
          <a:ln>
            <a:noFill/>
          </a:ln>
        </p:spPr>
      </p:pic>
      <p:sp>
        <p:nvSpPr>
          <p:cNvPr id="186" name="Google Shape;186;p20"/>
          <p:cNvSpPr txBox="1"/>
          <p:nvPr/>
        </p:nvSpPr>
        <p:spPr>
          <a:xfrm>
            <a:off x="867000" y="234200"/>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Focalización geográfica de la criminalidad</a:t>
            </a:r>
            <a:endParaRPr sz="1800" b="1"/>
          </a:p>
          <a:p>
            <a:pPr marL="0" lvl="0" indent="0" algn="l" rtl="0">
              <a:spcBef>
                <a:spcPts val="0"/>
              </a:spcBef>
              <a:spcAft>
                <a:spcPts val="0"/>
              </a:spcAft>
              <a:buNone/>
            </a:pPr>
            <a:endParaRPr sz="1800" b="1">
              <a:solidFill>
                <a:schemeClr val="dk2"/>
              </a:solidFill>
            </a:endParaRPr>
          </a:p>
        </p:txBody>
      </p:sp>
      <p:sp>
        <p:nvSpPr>
          <p:cNvPr id="187" name="Google Shape;187;p20"/>
          <p:cNvSpPr txBox="1"/>
          <p:nvPr/>
        </p:nvSpPr>
        <p:spPr>
          <a:xfrm>
            <a:off x="3152113" y="4567593"/>
            <a:ext cx="41397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
        <p:nvSpPr>
          <p:cNvPr id="188" name="Google Shape;188;p20"/>
          <p:cNvSpPr txBox="1"/>
          <p:nvPr/>
        </p:nvSpPr>
        <p:spPr>
          <a:xfrm>
            <a:off x="342900" y="1742675"/>
            <a:ext cx="1397400" cy="2736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900" b="1"/>
              <a:t>Mapa-Extorsión-2025: </a:t>
            </a:r>
            <a:r>
              <a:rPr lang="es" sz="900" u="sng">
                <a:solidFill>
                  <a:schemeClr val="hlink"/>
                </a:solidFill>
                <a:hlinkClick r:id="rId4"/>
              </a:rPr>
              <a:t>https://gforttini97.github.io/GRUPO3-MDS-VISUALIZACION-TRABAJO-FINAL/mapas/mapa_extorsion_peru_provincias.html</a:t>
            </a:r>
            <a:r>
              <a:rPr lang="es" sz="900"/>
              <a:t> </a:t>
            </a:r>
            <a:endParaRPr sz="900"/>
          </a:p>
          <a:p>
            <a:pPr marL="0" lvl="0" indent="0" algn="ctr" rtl="0">
              <a:spcBef>
                <a:spcPts val="0"/>
              </a:spcBef>
              <a:spcAft>
                <a:spcPts val="0"/>
              </a:spcAft>
              <a:buNone/>
            </a:pPr>
            <a:br>
              <a:rPr lang="es" sz="900"/>
            </a:br>
            <a:r>
              <a:rPr lang="es" sz="900" b="1"/>
              <a:t>Mapa-Homicidio-2025:</a:t>
            </a:r>
            <a:r>
              <a:rPr lang="es" sz="900"/>
              <a:t> </a:t>
            </a:r>
            <a:r>
              <a:rPr lang="es" sz="900" u="sng">
                <a:solidFill>
                  <a:schemeClr val="hlink"/>
                </a:solidFill>
                <a:hlinkClick r:id="rId5"/>
              </a:rPr>
              <a:t>https://gforttini97.github.io/GRUPO3-MDS-VISUALIZACION-TRABAJO-FINAL/mapas/mapa_homicidio_peru_provincias.html</a:t>
            </a:r>
            <a:r>
              <a:rPr lang="es" sz="900"/>
              <a:t> </a:t>
            </a:r>
            <a:endParaRPr sz="900"/>
          </a:p>
          <a:p>
            <a:pPr marL="0" lvl="0" indent="0" algn="ctr" rtl="0">
              <a:spcBef>
                <a:spcPts val="0"/>
              </a:spcBef>
              <a:spcAft>
                <a:spcPts val="0"/>
              </a:spcAft>
              <a:buNone/>
            </a:pPr>
            <a:endParaRPr>
              <a:solidFill>
                <a:schemeClr val="dk2"/>
              </a:solidFill>
              <a:latin typeface="Calibri"/>
              <a:ea typeface="Calibri"/>
              <a:cs typeface="Calibri"/>
              <a:sym typeface="Calibri"/>
            </a:endParaRPr>
          </a:p>
        </p:txBody>
      </p:sp>
      <p:sp>
        <p:nvSpPr>
          <p:cNvPr id="189" name="Google Shape;189;p20"/>
          <p:cNvSpPr/>
          <p:nvPr/>
        </p:nvSpPr>
        <p:spPr>
          <a:xfrm>
            <a:off x="1821325" y="1634550"/>
            <a:ext cx="35100" cy="2794800"/>
          </a:xfrm>
          <a:prstGeom prst="rect">
            <a:avLst/>
          </a:prstGeom>
          <a:solidFill>
            <a:schemeClr val="dk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1"/>
          <p:cNvSpPr txBox="1">
            <a:spLocks noGrp="1"/>
          </p:cNvSpPr>
          <p:nvPr>
            <p:ph type="title"/>
          </p:nvPr>
        </p:nvSpPr>
        <p:spPr>
          <a:xfrm>
            <a:off x="895125" y="690825"/>
            <a:ext cx="7505700" cy="954600"/>
          </a:xfrm>
          <a:prstGeom prst="rect">
            <a:avLst/>
          </a:prstGeom>
        </p:spPr>
        <p:txBody>
          <a:bodyPr spcFirstLastPara="1" wrap="square" lIns="91425" tIns="91425" rIns="91425" bIns="91425" anchor="t" anchorCtr="0">
            <a:normAutofit fontScale="90000"/>
          </a:bodyPr>
          <a:lstStyle/>
          <a:p>
            <a:pPr marL="0" lvl="0" indent="0" algn="l" rtl="0">
              <a:lnSpc>
                <a:spcPct val="115000"/>
              </a:lnSpc>
              <a:spcBef>
                <a:spcPts val="1200"/>
              </a:spcBef>
              <a:spcAft>
                <a:spcPts val="0"/>
              </a:spcAft>
              <a:buNone/>
            </a:pPr>
            <a:r>
              <a:rPr lang="es" sz="1100">
                <a:solidFill>
                  <a:srgbClr val="000000"/>
                </a:solidFill>
                <a:latin typeface="Arial"/>
                <a:ea typeface="Arial"/>
                <a:cs typeface="Arial"/>
                <a:sym typeface="Arial"/>
              </a:rPr>
              <a:t>En 2018, la extorsión se concentraba en un número reducido de distritos específicos de la ciudad. Sin embargo, con el paso de los años, el delito no solo aumentó en intensidad, sino que también se expandió territorialmente. Para 2025, la presencia de casos se ha extendido a la mayoría de distritos de Lima Metropolitana y Callao, evidenciando un proceso de difusión del delito dentro del espacio urbano.</a:t>
            </a:r>
            <a:endParaRPr sz="1100">
              <a:solidFill>
                <a:srgbClr val="000000"/>
              </a:solidFill>
              <a:latin typeface="Arial"/>
              <a:ea typeface="Arial"/>
              <a:cs typeface="Arial"/>
              <a:sym typeface="Arial"/>
            </a:endParaRPr>
          </a:p>
          <a:p>
            <a:pPr marL="0" lvl="0" indent="0" algn="l" rtl="0">
              <a:spcBef>
                <a:spcPts val="1200"/>
              </a:spcBef>
              <a:spcAft>
                <a:spcPts val="0"/>
              </a:spcAft>
              <a:buNone/>
            </a:pPr>
            <a:endParaRPr sz="1100">
              <a:solidFill>
                <a:srgbClr val="000000"/>
              </a:solidFill>
              <a:latin typeface="Arial"/>
              <a:ea typeface="Arial"/>
              <a:cs typeface="Arial"/>
              <a:sym typeface="Arial"/>
            </a:endParaRPr>
          </a:p>
        </p:txBody>
      </p:sp>
      <p:sp>
        <p:nvSpPr>
          <p:cNvPr id="195" name="Google Shape;195;p21"/>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Focalización geográfica de la criminalidad en Lima</a:t>
            </a:r>
            <a:endParaRPr sz="1800" b="1"/>
          </a:p>
          <a:p>
            <a:pPr marL="0" lvl="0" indent="0" algn="l" rtl="0">
              <a:spcBef>
                <a:spcPts val="0"/>
              </a:spcBef>
              <a:spcAft>
                <a:spcPts val="0"/>
              </a:spcAft>
              <a:buNone/>
            </a:pPr>
            <a:endParaRPr sz="1800" b="1">
              <a:solidFill>
                <a:schemeClr val="dk2"/>
              </a:solidFill>
            </a:endParaRPr>
          </a:p>
        </p:txBody>
      </p:sp>
      <p:pic>
        <p:nvPicPr>
          <p:cNvPr id="196" name="Google Shape;196;p21"/>
          <p:cNvPicPr preferRelativeResize="0"/>
          <p:nvPr/>
        </p:nvPicPr>
        <p:blipFill>
          <a:blip r:embed="rId3">
            <a:alphaModFix/>
          </a:blip>
          <a:stretch>
            <a:fillRect/>
          </a:stretch>
        </p:blipFill>
        <p:spPr>
          <a:xfrm>
            <a:off x="1391900" y="1481400"/>
            <a:ext cx="6512174" cy="3193274"/>
          </a:xfrm>
          <a:prstGeom prst="rect">
            <a:avLst/>
          </a:prstGeom>
          <a:noFill/>
          <a:ln>
            <a:noFill/>
          </a:ln>
        </p:spPr>
      </p:pic>
      <p:sp>
        <p:nvSpPr>
          <p:cNvPr id="197" name="Google Shape;197;p21"/>
          <p:cNvSpPr txBox="1"/>
          <p:nvPr/>
        </p:nvSpPr>
        <p:spPr>
          <a:xfrm>
            <a:off x="2798500" y="4585300"/>
            <a:ext cx="41397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2"/>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Focalización geográfica de la criminalidad</a:t>
            </a:r>
            <a:endParaRPr sz="1800" b="1"/>
          </a:p>
          <a:p>
            <a:pPr marL="0" lvl="0" indent="0" algn="l" rtl="0">
              <a:spcBef>
                <a:spcPts val="0"/>
              </a:spcBef>
              <a:spcAft>
                <a:spcPts val="0"/>
              </a:spcAft>
              <a:buNone/>
            </a:pPr>
            <a:endParaRPr sz="1800" b="1">
              <a:solidFill>
                <a:schemeClr val="dk2"/>
              </a:solidFill>
            </a:endParaRPr>
          </a:p>
        </p:txBody>
      </p:sp>
      <p:sp>
        <p:nvSpPr>
          <p:cNvPr id="203" name="Google Shape;203;p22"/>
          <p:cNvSpPr txBox="1"/>
          <p:nvPr/>
        </p:nvSpPr>
        <p:spPr>
          <a:xfrm>
            <a:off x="426075" y="715450"/>
            <a:ext cx="8130900" cy="8958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De los 1,891 distritos que hay en el Perú, en 10 se concentró el 34.57% de las extorsiones (9,248 denuncias), y el 31.37% de los homicidios (849 denuncias) en el año 2025. Por lo tanto, se debería enfocar los patrones de criminalidad en estos distritos, seis de ellos aparecen en ambos rankings</a:t>
            </a:r>
            <a:endParaRPr/>
          </a:p>
        </p:txBody>
      </p:sp>
      <p:pic>
        <p:nvPicPr>
          <p:cNvPr id="204" name="Google Shape;204;p22"/>
          <p:cNvPicPr preferRelativeResize="0"/>
          <p:nvPr/>
        </p:nvPicPr>
        <p:blipFill>
          <a:blip r:embed="rId3">
            <a:alphaModFix/>
          </a:blip>
          <a:stretch>
            <a:fillRect/>
          </a:stretch>
        </p:blipFill>
        <p:spPr>
          <a:xfrm>
            <a:off x="516425" y="1763900"/>
            <a:ext cx="4288059" cy="2928550"/>
          </a:xfrm>
          <a:prstGeom prst="rect">
            <a:avLst/>
          </a:prstGeom>
          <a:noFill/>
          <a:ln>
            <a:noFill/>
          </a:ln>
        </p:spPr>
      </p:pic>
      <p:pic>
        <p:nvPicPr>
          <p:cNvPr id="205" name="Google Shape;205;p22"/>
          <p:cNvPicPr preferRelativeResize="0"/>
          <p:nvPr/>
        </p:nvPicPr>
        <p:blipFill>
          <a:blip r:embed="rId4">
            <a:alphaModFix/>
          </a:blip>
          <a:stretch>
            <a:fillRect/>
          </a:stretch>
        </p:blipFill>
        <p:spPr>
          <a:xfrm>
            <a:off x="4510875" y="1793125"/>
            <a:ext cx="4202475" cy="2870100"/>
          </a:xfrm>
          <a:prstGeom prst="rect">
            <a:avLst/>
          </a:prstGeom>
          <a:noFill/>
          <a:ln>
            <a:noFill/>
          </a:ln>
        </p:spPr>
      </p:pic>
      <p:sp>
        <p:nvSpPr>
          <p:cNvPr id="206" name="Google Shape;206;p22"/>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Denuncias policiales (2018 al 2025) - Plataforma Nacional de Datos Abiertos</a:t>
            </a:r>
            <a:endParaRPr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23"/>
          <p:cNvSpPr txBox="1"/>
          <p:nvPr/>
        </p:nvSpPr>
        <p:spPr>
          <a:xfrm>
            <a:off x="786525"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Políticas de Gobierno: Presencia Policial</a:t>
            </a:r>
            <a:endParaRPr sz="1800" b="1"/>
          </a:p>
          <a:p>
            <a:pPr marL="0" lvl="0" indent="0" algn="l" rtl="0">
              <a:spcBef>
                <a:spcPts val="0"/>
              </a:spcBef>
              <a:spcAft>
                <a:spcPts val="0"/>
              </a:spcAft>
              <a:buNone/>
            </a:pPr>
            <a:endParaRPr sz="1800" b="1">
              <a:solidFill>
                <a:schemeClr val="dk2"/>
              </a:solidFill>
            </a:endParaRPr>
          </a:p>
        </p:txBody>
      </p:sp>
      <p:sp>
        <p:nvSpPr>
          <p:cNvPr id="212" name="Google Shape;212;p23"/>
          <p:cNvSpPr txBox="1"/>
          <p:nvPr/>
        </p:nvSpPr>
        <p:spPr>
          <a:xfrm>
            <a:off x="426075" y="715450"/>
            <a:ext cx="8130900" cy="648000"/>
          </a:xfrm>
          <a:prstGeom prst="rect">
            <a:avLst/>
          </a:prstGeom>
          <a:noFill/>
          <a:ln>
            <a:noFill/>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a:t>Los seis distritos más violentos no sólo se ubican entre los 20 distritos más poblados, sino que tres de ellos cuentan con presencia policial menor al promedio.</a:t>
            </a:r>
            <a:endParaRPr/>
          </a:p>
        </p:txBody>
      </p:sp>
      <p:pic>
        <p:nvPicPr>
          <p:cNvPr id="213" name="Google Shape;213;p23"/>
          <p:cNvPicPr preferRelativeResize="0"/>
          <p:nvPr/>
        </p:nvPicPr>
        <p:blipFill>
          <a:blip r:embed="rId3">
            <a:alphaModFix/>
          </a:blip>
          <a:stretch>
            <a:fillRect/>
          </a:stretch>
        </p:blipFill>
        <p:spPr>
          <a:xfrm>
            <a:off x="515700" y="1906025"/>
            <a:ext cx="4056299" cy="2684406"/>
          </a:xfrm>
          <a:prstGeom prst="rect">
            <a:avLst/>
          </a:prstGeom>
          <a:noFill/>
          <a:ln>
            <a:noFill/>
          </a:ln>
        </p:spPr>
      </p:pic>
      <p:sp>
        <p:nvSpPr>
          <p:cNvPr id="214" name="Google Shape;214;p23"/>
          <p:cNvSpPr txBox="1"/>
          <p:nvPr/>
        </p:nvSpPr>
        <p:spPr>
          <a:xfrm>
            <a:off x="4804475" y="4590425"/>
            <a:ext cx="4056300" cy="307800"/>
          </a:xfrm>
          <a:prstGeom prst="rect">
            <a:avLst/>
          </a:prstGeom>
          <a:noFill/>
          <a:ln>
            <a:noFill/>
          </a:ln>
        </p:spPr>
        <p:txBody>
          <a:bodyPr spcFirstLastPara="1" wrap="square" lIns="91425" tIns="91425" rIns="91425" bIns="91425" anchor="t" anchorCtr="0">
            <a:spAutoFit/>
          </a:bodyPr>
          <a:lstStyle/>
          <a:p>
            <a:pPr marL="0" lvl="0" indent="0" algn="r" rtl="0">
              <a:lnSpc>
                <a:spcPct val="115000"/>
              </a:lnSpc>
              <a:spcBef>
                <a:spcPts val="1200"/>
              </a:spcBef>
              <a:spcAft>
                <a:spcPts val="1200"/>
              </a:spcAft>
              <a:buNone/>
            </a:pPr>
            <a:r>
              <a:rPr lang="es" sz="800"/>
              <a:t>Fuente: Base de datos de personal policial; Censo Nacional 2017</a:t>
            </a:r>
            <a:endParaRPr sz="800"/>
          </a:p>
        </p:txBody>
      </p:sp>
      <p:pic>
        <p:nvPicPr>
          <p:cNvPr id="215" name="Google Shape;215;p23"/>
          <p:cNvPicPr preferRelativeResize="0"/>
          <p:nvPr/>
        </p:nvPicPr>
        <p:blipFill>
          <a:blip r:embed="rId4">
            <a:alphaModFix/>
          </a:blip>
          <a:stretch>
            <a:fillRect/>
          </a:stretch>
        </p:blipFill>
        <p:spPr>
          <a:xfrm>
            <a:off x="4227765" y="1806901"/>
            <a:ext cx="4633011" cy="27835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4"/>
          <p:cNvSpPr txBox="1"/>
          <p:nvPr/>
        </p:nvSpPr>
        <p:spPr>
          <a:xfrm>
            <a:off x="867000" y="210725"/>
            <a:ext cx="7410000" cy="522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1800" b="1"/>
              <a:t>Conclusiones y Recomendaciones</a:t>
            </a:r>
            <a:endParaRPr sz="1800" b="1"/>
          </a:p>
          <a:p>
            <a:pPr marL="0" lvl="0" indent="0" algn="l" rtl="0">
              <a:spcBef>
                <a:spcPts val="0"/>
              </a:spcBef>
              <a:spcAft>
                <a:spcPts val="0"/>
              </a:spcAft>
              <a:buNone/>
            </a:pPr>
            <a:endParaRPr sz="1800" b="1">
              <a:solidFill>
                <a:schemeClr val="dk2"/>
              </a:solidFill>
            </a:endParaRPr>
          </a:p>
        </p:txBody>
      </p:sp>
      <p:sp>
        <p:nvSpPr>
          <p:cNvPr id="221" name="Google Shape;221;p24"/>
          <p:cNvSpPr txBox="1"/>
          <p:nvPr/>
        </p:nvSpPr>
        <p:spPr>
          <a:xfrm>
            <a:off x="3595000" y="4257684"/>
            <a:ext cx="5308800" cy="548700"/>
          </a:xfrm>
          <a:prstGeom prst="rect">
            <a:avLst/>
          </a:prstGeom>
          <a:noFill/>
          <a:ln w="9525" cap="flat" cmpd="sng">
            <a:noFill/>
            <a:prstDash val="solid"/>
            <a:round/>
            <a:headEnd type="none" w="sm" len="sm"/>
            <a:tailEnd type="none" w="sm" len="sm"/>
          </a:ln>
        </p:spPr>
        <p:txBody>
          <a:bodyPr spcFirstLastPara="1" wrap="square" lIns="91425" tIns="91425" rIns="91425" bIns="91425" anchor="t" anchorCtr="0">
            <a:spAutoFit/>
          </a:bodyPr>
          <a:lstStyle/>
          <a:p>
            <a:pPr marL="0" lvl="0" indent="0" algn="just" rtl="0">
              <a:lnSpc>
                <a:spcPct val="115000"/>
              </a:lnSpc>
              <a:spcBef>
                <a:spcPts val="1200"/>
              </a:spcBef>
              <a:spcAft>
                <a:spcPts val="1200"/>
              </a:spcAft>
              <a:buNone/>
            </a:pPr>
            <a:r>
              <a:rPr lang="es" sz="1100" dirty="0"/>
              <a:t>En el siguiente enlace encontrará el repositorio con todo los archivos trabajados:</a:t>
            </a:r>
            <a:br>
              <a:rPr lang="es" sz="1100" dirty="0"/>
            </a:br>
            <a:r>
              <a:rPr lang="es" sz="1100" u="sng" dirty="0">
                <a:solidFill>
                  <a:schemeClr val="hlink"/>
                </a:solidFill>
                <a:hlinkClick r:id="rId3"/>
              </a:rPr>
              <a:t>https://github.com/gforttini97/GRUPO3-MDS-VISUALIZACION-TRABAJO-FINAL</a:t>
            </a:r>
            <a:r>
              <a:rPr lang="es" sz="1100" dirty="0"/>
              <a:t> </a:t>
            </a:r>
            <a:endParaRPr sz="1100" dirty="0"/>
          </a:p>
        </p:txBody>
      </p:sp>
      <p:sp>
        <p:nvSpPr>
          <p:cNvPr id="222" name="Google Shape;222;p24"/>
          <p:cNvSpPr txBox="1"/>
          <p:nvPr/>
        </p:nvSpPr>
        <p:spPr>
          <a:xfrm>
            <a:off x="373800" y="471875"/>
            <a:ext cx="8396400" cy="384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100" b="1" i="1" dirty="0">
                <a:solidFill>
                  <a:schemeClr val="dk2"/>
                </a:solidFill>
                <a:latin typeface="Calibri"/>
                <a:ea typeface="Calibri"/>
                <a:cs typeface="Calibri"/>
                <a:sym typeface="Calibri"/>
              </a:rPr>
              <a:t>Conclusiones:</a:t>
            </a:r>
            <a:endParaRPr sz="1100" b="1" i="1"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La criminalidad en el Perú es real, no solo percepción, si bien las denuncias policiales totales disminuyeron en 2024–2025, los delitos más graves —homicidio y extorsión— siguieron creciendo sostenidamente. El homicidio pasó de 1,076 denuncias en 2018 a 2,706 en 2025 (crecimiento anual del 6%), y la extorsión de 3,225 a 26,748 (crecimiento anual del 33%). La percepción ciudadana negativa tiene pleno respaldo en los datos.</a:t>
            </a:r>
            <a:endParaRPr sz="1100"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La criminalidad está geográficamente focalizada, Lima y la Zona Norte (La Libertad y Piura) concentran la mayor carga delictiva. Lima explica el 53.4% de los homicidios y el 50.7% de las extorsiones; la Zona Norte el 20.4% y el 37.5%, respectivamente. El resto del país tiene una incidencia comparativamente menor.</a:t>
            </a:r>
            <a:endParaRPr sz="1100"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Hay una concentración crítica a nivel distrital, solo 10 distritos —de los 1,891 que tiene el país— acumularon el 34.6% de las extorsiones y el 31.4% de los homicidios en 2025. Seis de esos distritos aparecen simultáneamente en ambos rankings, lo que los convierte en focos de violencia múltiple.</a:t>
            </a:r>
            <a:endParaRPr sz="1100" dirty="0">
              <a:solidFill>
                <a:schemeClr val="dk2"/>
              </a:solidFill>
              <a:latin typeface="Calibri"/>
              <a:ea typeface="Calibri"/>
              <a:cs typeface="Calibri"/>
              <a:sym typeface="Calibri"/>
            </a:endParaRPr>
          </a:p>
          <a:p>
            <a:pPr marL="0" lvl="0" indent="0" algn="l" rtl="0">
              <a:spcBef>
                <a:spcPts val="0"/>
              </a:spcBef>
              <a:spcAft>
                <a:spcPts val="0"/>
              </a:spcAft>
              <a:buNone/>
            </a:pPr>
            <a:endParaRPr sz="1100" b="1" i="1" dirty="0">
              <a:solidFill>
                <a:schemeClr val="dk2"/>
              </a:solidFill>
              <a:latin typeface="Calibri"/>
              <a:ea typeface="Calibri"/>
              <a:cs typeface="Calibri"/>
              <a:sym typeface="Calibri"/>
            </a:endParaRPr>
          </a:p>
          <a:p>
            <a:pPr marL="0" lvl="0" indent="0" algn="l" rtl="0">
              <a:spcBef>
                <a:spcPts val="0"/>
              </a:spcBef>
              <a:spcAft>
                <a:spcPts val="0"/>
              </a:spcAft>
              <a:buNone/>
            </a:pPr>
            <a:r>
              <a:rPr lang="es" sz="1100" b="1" i="1" dirty="0">
                <a:solidFill>
                  <a:schemeClr val="dk2"/>
                </a:solidFill>
                <a:latin typeface="Calibri"/>
                <a:ea typeface="Calibri"/>
                <a:cs typeface="Calibri"/>
                <a:sym typeface="Calibri"/>
              </a:rPr>
              <a:t>Recomendaciones:</a:t>
            </a:r>
            <a:endParaRPr sz="1100" b="1" i="1"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Estrategia focalizada en los 10 distritos críticos, diseñar un plan de intervención intensiva y diferenciada para los 10 distritos con mayor concentración de extorsiones y homicidios. Los seis que aparecen en ambos rankings deben ser tratados como prioridad máxima. La focalización permite optimizar recursos limitados con mayor impacto.</a:t>
            </a:r>
            <a:endParaRPr sz="1100"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Reasignación del personal policial con base en datos, realizar una redistribución del personal policial considerando la densidad delictiva por distrito, no solo la población. Los tres distritos más violentos con presencia policial por debajo del promedio deben recibir refuerzo inmediato.</a:t>
            </a:r>
            <a:endParaRPr sz="1100" dirty="0">
              <a:solidFill>
                <a:schemeClr val="dk2"/>
              </a:solidFill>
              <a:latin typeface="Calibri"/>
              <a:ea typeface="Calibri"/>
              <a:cs typeface="Calibri"/>
              <a:sym typeface="Calibri"/>
            </a:endParaRPr>
          </a:p>
          <a:p>
            <a:pPr marL="457200" lvl="0" indent="-298450" algn="l" rtl="0">
              <a:spcBef>
                <a:spcPts val="0"/>
              </a:spcBef>
              <a:spcAft>
                <a:spcPts val="0"/>
              </a:spcAft>
              <a:buClr>
                <a:schemeClr val="dk2"/>
              </a:buClr>
              <a:buSzPts val="1100"/>
              <a:buFont typeface="Calibri"/>
              <a:buChar char="●"/>
            </a:pPr>
            <a:r>
              <a:rPr lang="es" sz="1100" dirty="0">
                <a:solidFill>
                  <a:schemeClr val="dk2"/>
                </a:solidFill>
                <a:latin typeface="Calibri"/>
                <a:ea typeface="Calibri"/>
                <a:cs typeface="Calibri"/>
                <a:sym typeface="Calibri"/>
              </a:rPr>
              <a:t>Política específica anti-extorsión, dado el crecimiento explosivo de la extorsión (33% anual), se requiere una política pública específica: unidades especializadas, mejora en canales de denuncia anónima, trabajo con sectores económicos más afectados (transporte, comercio, construcción), y cooperación con fiscalía para aumentar la tasa de persecución efectiva.</a:t>
            </a:r>
            <a:endParaRPr sz="1100" dirty="0">
              <a:solidFill>
                <a:schemeClr val="dk2"/>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hift">
  <a:themeElements>
    <a:clrScheme name="Shift">
      <a:dk1>
        <a:srgbClr val="FFFFFF"/>
      </a:dk1>
      <a:lt1>
        <a:srgbClr val="AF7B51"/>
      </a:lt1>
      <a:dk2>
        <a:srgbClr val="233A44"/>
      </a:dk2>
      <a:lt2>
        <a:srgbClr val="D9D9D9"/>
      </a:lt2>
      <a:accent1>
        <a:srgbClr val="00796B"/>
      </a:accent1>
      <a:accent2>
        <a:srgbClr val="D9563F"/>
      </a:accent2>
      <a:accent3>
        <a:srgbClr val="C4A15A"/>
      </a:accent3>
      <a:accent4>
        <a:srgbClr val="14F597"/>
      </a:accent4>
      <a:accent5>
        <a:srgbClr val="3D4594"/>
      </a:accent5>
      <a:accent6>
        <a:srgbClr val="163EF5"/>
      </a:accent6>
      <a:hlink>
        <a:srgbClr val="3D4594"/>
      </a:hlink>
      <a:folHlink>
        <a:srgbClr val="3D459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1320</Words>
  <Application>Microsoft Office PowerPoint</Application>
  <PresentationFormat>Presentación en pantalla (16:9)</PresentationFormat>
  <Paragraphs>62</Paragraphs>
  <Slides>12</Slides>
  <Notes>12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Nunito</vt:lpstr>
      <vt:lpstr>Calibri</vt:lpstr>
      <vt:lpstr>Shift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En los años más recientes, destacan Lima Metropolitana y la costa norte del país, principalmente La Libertad y Piura, donde la intensidad del color refleja un incremento significativo en el número de denuncias. Este comportamiento sugiere una expansión del delito hacia zonas urbanas y económicamente dinámicas, consolidando focos críticos de extorsión.</vt:lpstr>
      <vt:lpstr>En 2018, la extorsión se concentraba en un número reducido de distritos específicos de la ciudad. Sin embargo, con el paso de los años, el delito no solo aumentó en intensidad, sino que también se expandió territorialmente. Para 2025, la presencia de casos se ha extendido a la mayoría de distritos de Lima Metropolitana y Callao, evidenciando un proceso de difusión del delito dentro del espacio urbano. </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GIANELLA FORTTINI</cp:lastModifiedBy>
  <cp:revision>1</cp:revision>
  <dcterms:modified xsi:type="dcterms:W3CDTF">2026-03-31T01:36:35Z</dcterms:modified>
</cp:coreProperties>
</file>
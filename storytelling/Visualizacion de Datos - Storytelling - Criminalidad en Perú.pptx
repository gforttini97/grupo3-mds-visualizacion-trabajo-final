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5143500" cx="9144000"/>
  <p:notesSz cx="6858000" cy="9144000"/>
  <p:embeddedFontLst>
    <p:embeddedFont>
      <p:font typeface="Nunito"/>
      <p:regular r:id="rId18"/>
      <p:bold r:id="rId19"/>
      <p:italic r:id="rId20"/>
      <p:boldItalic r:id="rId2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italic.fntdata"/><Relationship Id="rId11" Type="http://schemas.openxmlformats.org/officeDocument/2006/relationships/slide" Target="slides/slide6.xml"/><Relationship Id="rId10" Type="http://schemas.openxmlformats.org/officeDocument/2006/relationships/slide" Target="slides/slide5.xml"/><Relationship Id="rId21" Type="http://schemas.openxmlformats.org/officeDocument/2006/relationships/font" Target="fonts/Nunito-boldItalic.fntdata"/><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Nunito-bold.fntdata"/><Relationship Id="rId6" Type="http://schemas.openxmlformats.org/officeDocument/2006/relationships/slide" Target="slides/slide1.xml"/><Relationship Id="rId18" Type="http://schemas.openxmlformats.org/officeDocument/2006/relationships/font" Target="fonts/Nunito-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3d23fdc57c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g3d23fdc57c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 name="Shape 130"/>
        <p:cNvGrpSpPr/>
        <p:nvPr/>
      </p:nvGrpSpPr>
      <p:grpSpPr>
        <a:xfrm>
          <a:off x="0" y="0"/>
          <a:ext cx="0" cy="0"/>
          <a:chOff x="0" y="0"/>
          <a:chExt cx="0" cy="0"/>
        </a:xfrm>
      </p:grpSpPr>
      <p:sp>
        <p:nvSpPr>
          <p:cNvPr id="131" name="Google Shape;13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32" name="Google Shape;13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d3718d1d94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d3718d1d94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96af2e8d9d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96af2e8d9d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96af2e8d9d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96af2e8d9d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96b10cbb2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96b10cbb2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96b10cbb24_3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96b10cbb24_3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96b10cbb24_3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96b10cbb24_3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d38abcf28d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d38abcf28d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96b10cbb24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96b10cbb24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g396b10cbb24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4" name="Google Shape;214;g396b10cbb24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96b2673263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96b2673263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9"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2"/>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4" name="Google Shape;34;p2"/>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35" name="Google Shape;35;p2"/>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36" name="Google Shape;36;p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37"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 name="Google Shape;47;p3"/>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48" name="Google Shape;48;p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49"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4"/>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54" name="Google Shape;54;p4"/>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55" name="Google Shape;55;p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56"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5"/>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1" name="Google Shape;61;p5"/>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2" name="Google Shape;62;p5"/>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63" name="Google Shape;63;p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64"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69" name="Google Shape;69;p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70"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7"/>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7"/>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75" name="Google Shape;75;p7"/>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76" name="Google Shape;76;p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77"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8"/>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8"/>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8"/>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8"/>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8"/>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8"/>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3" name="Google Shape;93;p8"/>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94" name="Google Shape;94;p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95"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9"/>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00" name="Google Shape;100;p9"/>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01" name="Google Shape;101;p9"/>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2" name="Google Shape;102;p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03"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10"/>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08" name="Google Shape;108;p1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09"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11"/>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1"/>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11"/>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1"/>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9" name="Google Shape;119;p11"/>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21" name="Google Shape;121;p1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22" name="Shape 122"/>
        <p:cNvGrpSpPr/>
        <p:nvPr/>
      </p:nvGrpSpPr>
      <p:grpSpPr>
        <a:xfrm>
          <a:off x="0" y="0"/>
          <a:ext cx="0" cy="0"/>
          <a:chOff x="0" y="0"/>
          <a:chExt cx="0" cy="0"/>
        </a:xfrm>
      </p:grpSpPr>
      <p:sp>
        <p:nvSpPr>
          <p:cNvPr id="123" name="Google Shape;123;p1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 name="Google Shape;7;p1"/>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8" name="Google Shape;8;p1"/>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5.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hyperlink" Target="https://gforttini97.github.io/GRUPO3-MDS-VISUALIZACION-TRABAJO-FINAL/mapas/mapa_extorsion_peru_provincias.html" TargetMode="External"/><Relationship Id="rId5" Type="http://schemas.openxmlformats.org/officeDocument/2006/relationships/hyperlink" Target="https://gforttini97.github.io/GRUPO3-MDS-VISUALIZACION-TRABAJO-FINAL/mapas/mapa_homicidio_peru_provincias.html"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s://github.com/gforttini97/GRUPO3-MDS-VISUALIZACION-TRABAJO-FINA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13"/>
          <p:cNvPicPr preferRelativeResize="0"/>
          <p:nvPr/>
        </p:nvPicPr>
        <p:blipFill>
          <a:blip r:embed="rId3">
            <a:alphaModFix/>
          </a:blip>
          <a:stretch>
            <a:fillRect/>
          </a:stretch>
        </p:blipFill>
        <p:spPr>
          <a:xfrm>
            <a:off x="262251" y="282787"/>
            <a:ext cx="3640500" cy="4577929"/>
          </a:xfrm>
          <a:prstGeom prst="rect">
            <a:avLst/>
          </a:prstGeom>
          <a:noFill/>
          <a:ln>
            <a:noFill/>
          </a:ln>
        </p:spPr>
      </p:pic>
      <p:sp>
        <p:nvSpPr>
          <p:cNvPr id="129" name="Google Shape;129;p13"/>
          <p:cNvSpPr txBox="1"/>
          <p:nvPr/>
        </p:nvSpPr>
        <p:spPr>
          <a:xfrm>
            <a:off x="3902750" y="282750"/>
            <a:ext cx="4636800" cy="4578000"/>
          </a:xfrm>
          <a:prstGeom prst="rect">
            <a:avLst/>
          </a:prstGeom>
          <a:solidFill>
            <a:schemeClr val="dk1"/>
          </a:solidFill>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b="1" lang="es" sz="2200"/>
              <a:t>Maestría en Ciencia de Datos</a:t>
            </a:r>
            <a:endParaRPr b="1" sz="2200"/>
          </a:p>
          <a:p>
            <a:pPr indent="0" lvl="0" marL="0" rtl="0" algn="ctr">
              <a:spcBef>
                <a:spcPts val="0"/>
              </a:spcBef>
              <a:spcAft>
                <a:spcPts val="0"/>
              </a:spcAft>
              <a:buNone/>
            </a:pPr>
            <a:r>
              <a:t/>
            </a:r>
            <a:endParaRPr b="1" sz="1800"/>
          </a:p>
          <a:p>
            <a:pPr indent="0" lvl="0" marL="0" rtl="0" algn="ctr">
              <a:spcBef>
                <a:spcPts val="0"/>
              </a:spcBef>
              <a:spcAft>
                <a:spcPts val="0"/>
              </a:spcAft>
              <a:buNone/>
            </a:pPr>
            <a:r>
              <a:rPr b="1" lang="es" sz="2200"/>
              <a:t>Visualización de Datos</a:t>
            </a:r>
            <a:endParaRPr b="1" sz="2200"/>
          </a:p>
          <a:p>
            <a:pPr indent="0" lvl="0" marL="0" rtl="0" algn="ctr">
              <a:spcBef>
                <a:spcPts val="0"/>
              </a:spcBef>
              <a:spcAft>
                <a:spcPts val="0"/>
              </a:spcAft>
              <a:buNone/>
            </a:pPr>
            <a:r>
              <a:t/>
            </a:r>
            <a:endParaRPr b="1" sz="2200"/>
          </a:p>
          <a:p>
            <a:pPr indent="0" lvl="0" marL="0" rtl="0" algn="ctr">
              <a:spcBef>
                <a:spcPts val="0"/>
              </a:spcBef>
              <a:spcAft>
                <a:spcPts val="0"/>
              </a:spcAft>
              <a:buNone/>
            </a:pPr>
            <a:r>
              <a:rPr b="1" lang="es" sz="2200"/>
              <a:t>Criminalidad en el Perú: Recrudecimiento de la violencia</a:t>
            </a:r>
            <a:endParaRPr b="1" sz="2200"/>
          </a:p>
          <a:p>
            <a:pPr indent="457200" lvl="0" marL="0" rtl="0" algn="l">
              <a:spcBef>
                <a:spcPts val="0"/>
              </a:spcBef>
              <a:spcAft>
                <a:spcPts val="0"/>
              </a:spcAft>
              <a:buNone/>
            </a:pPr>
            <a:r>
              <a:t/>
            </a:r>
            <a:endParaRPr b="1" sz="1800"/>
          </a:p>
          <a:p>
            <a:pPr indent="457200" lvl="0" marL="0" rtl="0" algn="l">
              <a:spcBef>
                <a:spcPts val="0"/>
              </a:spcBef>
              <a:spcAft>
                <a:spcPts val="0"/>
              </a:spcAft>
              <a:buNone/>
            </a:pPr>
            <a:r>
              <a:t/>
            </a:r>
            <a:endParaRPr b="1" sz="1800"/>
          </a:p>
          <a:p>
            <a:pPr indent="457200" lvl="0" marL="0" rtl="0" algn="l">
              <a:spcBef>
                <a:spcPts val="0"/>
              </a:spcBef>
              <a:spcAft>
                <a:spcPts val="0"/>
              </a:spcAft>
              <a:buNone/>
            </a:pPr>
            <a:r>
              <a:rPr b="1" lang="es" sz="1800"/>
              <a:t>Integrantes:</a:t>
            </a:r>
            <a:endParaRPr b="1" sz="1800"/>
          </a:p>
          <a:p>
            <a:pPr indent="0" lvl="0" marL="0" rtl="0" algn="l">
              <a:spcBef>
                <a:spcPts val="0"/>
              </a:spcBef>
              <a:spcAft>
                <a:spcPts val="0"/>
              </a:spcAft>
              <a:buNone/>
            </a:pPr>
            <a:r>
              <a:t/>
            </a:r>
            <a:endParaRPr b="1" sz="1800"/>
          </a:p>
          <a:p>
            <a:pPr indent="0" lvl="0" marL="457200" rtl="0" algn="l">
              <a:spcBef>
                <a:spcPts val="0"/>
              </a:spcBef>
              <a:spcAft>
                <a:spcPts val="0"/>
              </a:spcAft>
              <a:buNone/>
            </a:pPr>
            <a:r>
              <a:rPr b="1" lang="es" sz="1800"/>
              <a:t>Víctor Escobar</a:t>
            </a:r>
            <a:endParaRPr b="1" sz="1800"/>
          </a:p>
          <a:p>
            <a:pPr indent="0" lvl="0" marL="457200" rtl="0" algn="l">
              <a:spcBef>
                <a:spcPts val="0"/>
              </a:spcBef>
              <a:spcAft>
                <a:spcPts val="0"/>
              </a:spcAft>
              <a:buNone/>
            </a:pPr>
            <a:r>
              <a:rPr b="1" lang="es" sz="1800"/>
              <a:t>Gianella Forttini</a:t>
            </a:r>
            <a:endParaRPr b="1" sz="1800"/>
          </a:p>
          <a:p>
            <a:pPr indent="0" lvl="0" marL="457200" rtl="0" algn="l">
              <a:spcBef>
                <a:spcPts val="0"/>
              </a:spcBef>
              <a:spcAft>
                <a:spcPts val="0"/>
              </a:spcAft>
              <a:buNone/>
            </a:pPr>
            <a:r>
              <a:rPr b="1" lang="es" sz="1800"/>
              <a:t>Christian Gutiérrez</a:t>
            </a:r>
            <a:endParaRPr b="1" sz="1800"/>
          </a:p>
          <a:p>
            <a:pPr indent="0" lvl="0" marL="457200" rtl="0" algn="l">
              <a:spcBef>
                <a:spcPts val="0"/>
              </a:spcBef>
              <a:spcAft>
                <a:spcPts val="0"/>
              </a:spcAft>
              <a:buNone/>
            </a:pPr>
            <a:r>
              <a:rPr b="1" lang="es" sz="1800"/>
              <a:t>Lloyd Laura</a:t>
            </a:r>
            <a:endParaRPr b="1" sz="1800"/>
          </a:p>
          <a:p>
            <a:pPr indent="0" lvl="0" marL="0" rtl="0" algn="l">
              <a:spcBef>
                <a:spcPts val="0"/>
              </a:spcBef>
              <a:spcAft>
                <a:spcPts val="0"/>
              </a:spcAft>
              <a:buNone/>
            </a:pPr>
            <a:r>
              <a:t/>
            </a:r>
            <a:endParaRPr sz="1800"/>
          </a:p>
          <a:p>
            <a:pPr indent="0" lvl="0" marL="0" rtl="0" algn="l">
              <a:spcBef>
                <a:spcPts val="0"/>
              </a:spcBef>
              <a:spcAft>
                <a:spcPts val="0"/>
              </a:spcAft>
              <a:buNone/>
            </a:pPr>
            <a:r>
              <a:t/>
            </a: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3" name="Shape 133"/>
        <p:cNvGrpSpPr/>
        <p:nvPr/>
      </p:nvGrpSpPr>
      <p:grpSpPr>
        <a:xfrm>
          <a:off x="0" y="0"/>
          <a:ext cx="0" cy="0"/>
          <a:chOff x="0" y="0"/>
          <a:chExt cx="0" cy="0"/>
        </a:xfrm>
      </p:grpSpPr>
      <p:sp>
        <p:nvSpPr>
          <p:cNvPr id="134" name="Google Shape;134;p14"/>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Criminalidad en el Perú</a:t>
            </a:r>
            <a:endParaRPr b="1" sz="1800"/>
          </a:p>
          <a:p>
            <a:pPr indent="0" lvl="0" marL="0" rtl="0" algn="l">
              <a:spcBef>
                <a:spcPts val="0"/>
              </a:spcBef>
              <a:spcAft>
                <a:spcPts val="0"/>
              </a:spcAft>
              <a:buNone/>
            </a:pPr>
            <a:r>
              <a:t/>
            </a:r>
            <a:endParaRPr b="1" sz="1800">
              <a:solidFill>
                <a:schemeClr val="dk2"/>
              </a:solidFill>
            </a:endParaRPr>
          </a:p>
        </p:txBody>
      </p:sp>
      <p:sp>
        <p:nvSpPr>
          <p:cNvPr id="135" name="Google Shape;135;p14"/>
          <p:cNvSpPr txBox="1"/>
          <p:nvPr/>
        </p:nvSpPr>
        <p:spPr>
          <a:xfrm>
            <a:off x="426075" y="715450"/>
            <a:ext cx="8130900" cy="33402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
              <a:t>Entre los años 2018 - 2025, el Perú experimentado transformaciones importantes en distintos ámbitos. Uno de los temas que ha permanecido en el centro de la preocupación ciudadana es la delincuencia.</a:t>
            </a:r>
            <a:endParaRPr/>
          </a:p>
          <a:p>
            <a:pPr indent="0" lvl="0" marL="0" rtl="0" algn="just">
              <a:lnSpc>
                <a:spcPct val="115000"/>
              </a:lnSpc>
              <a:spcBef>
                <a:spcPts val="1200"/>
              </a:spcBef>
              <a:spcAft>
                <a:spcPts val="0"/>
              </a:spcAft>
              <a:buNone/>
            </a:pPr>
            <a:r>
              <a:rPr lang="es"/>
              <a:t>Sin embargo, ¿esta preocupación sólo es un tema de percepción como indican algunas autoridades?, o ¿sí es un problema que aqueja a algunos más que otros y cuyas causas deben ser identificadas para establecer políticas de gobierno con el objetivo de erradicarla?</a:t>
            </a:r>
            <a:endParaRPr/>
          </a:p>
          <a:p>
            <a:pPr indent="0" lvl="0" marL="0" rtl="0" algn="just">
              <a:lnSpc>
                <a:spcPct val="115000"/>
              </a:lnSpc>
              <a:spcBef>
                <a:spcPts val="1200"/>
              </a:spcBef>
              <a:spcAft>
                <a:spcPts val="0"/>
              </a:spcAft>
              <a:buNone/>
            </a:pPr>
            <a:r>
              <a:rPr lang="es"/>
              <a:t>Para ello, el reporte cuenta con la siguiente información:</a:t>
            </a:r>
            <a:endParaRPr/>
          </a:p>
          <a:p>
            <a:pPr indent="-317500" lvl="0" marL="457200" rtl="0" algn="just">
              <a:lnSpc>
                <a:spcPct val="115000"/>
              </a:lnSpc>
              <a:spcBef>
                <a:spcPts val="1200"/>
              </a:spcBef>
              <a:spcAft>
                <a:spcPts val="0"/>
              </a:spcAft>
              <a:buSzPts val="1400"/>
              <a:buChar char="●"/>
            </a:pPr>
            <a:r>
              <a:rPr lang="es"/>
              <a:t>Base de datos de denuncias policiales emitido por el Gobierno del Perú.</a:t>
            </a:r>
            <a:endParaRPr/>
          </a:p>
          <a:p>
            <a:pPr indent="-317500" lvl="0" marL="457200" rtl="0" algn="just">
              <a:lnSpc>
                <a:spcPct val="115000"/>
              </a:lnSpc>
              <a:spcBef>
                <a:spcPts val="0"/>
              </a:spcBef>
              <a:spcAft>
                <a:spcPts val="0"/>
              </a:spcAft>
              <a:buSzPts val="1400"/>
              <a:buChar char="●"/>
            </a:pPr>
            <a:r>
              <a:rPr lang="es"/>
              <a:t>Base de datos de personal policial emitido por el Gobierno del Perú. </a:t>
            </a:r>
            <a:endParaRPr/>
          </a:p>
          <a:p>
            <a:pPr indent="-317500" lvl="0" marL="457200" rtl="0" algn="just">
              <a:lnSpc>
                <a:spcPct val="115000"/>
              </a:lnSpc>
              <a:spcBef>
                <a:spcPts val="0"/>
              </a:spcBef>
              <a:spcAft>
                <a:spcPts val="0"/>
              </a:spcAft>
              <a:buSzPts val="1400"/>
              <a:buChar char="●"/>
            </a:pPr>
            <a:r>
              <a:rPr lang="es"/>
              <a:t>Base de datos de población del Instituto Nacional de Estadística e Informática.</a:t>
            </a:r>
            <a:endParaRPr/>
          </a:p>
          <a:p>
            <a:pPr indent="-317500" lvl="0" marL="457200" rtl="0" algn="just">
              <a:lnSpc>
                <a:spcPct val="115000"/>
              </a:lnSpc>
              <a:spcBef>
                <a:spcPts val="0"/>
              </a:spcBef>
              <a:spcAft>
                <a:spcPts val="0"/>
              </a:spcAft>
              <a:buSzPts val="1400"/>
              <a:buChar char="●"/>
            </a:pPr>
            <a:r>
              <a:rPr lang="es"/>
              <a:t>Encuestas de opinión elaboradas por Ipsos Apoyo.</a:t>
            </a:r>
            <a:endParaRPr/>
          </a:p>
        </p:txBody>
      </p:sp>
      <p:sp>
        <p:nvSpPr>
          <p:cNvPr id="136" name="Google Shape;136;p14"/>
          <p:cNvSpPr txBox="1"/>
          <p:nvPr/>
        </p:nvSpPr>
        <p:spPr>
          <a:xfrm>
            <a:off x="472075" y="310025"/>
            <a:ext cx="2289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FF0000"/>
                </a:solidFill>
                <a:latin typeface="Calibri"/>
                <a:ea typeface="Calibri"/>
                <a:cs typeface="Calibri"/>
                <a:sym typeface="Calibri"/>
              </a:rPr>
              <a:t>Christian</a:t>
            </a:r>
            <a:endParaRPr b="1" sz="1800">
              <a:solidFill>
                <a:srgbClr val="FF0000"/>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5"/>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Percepción de la criminalidad</a:t>
            </a:r>
            <a:endParaRPr b="1" sz="1800"/>
          </a:p>
          <a:p>
            <a:pPr indent="0" lvl="0" marL="0" rtl="0" algn="l">
              <a:spcBef>
                <a:spcPts val="0"/>
              </a:spcBef>
              <a:spcAft>
                <a:spcPts val="0"/>
              </a:spcAft>
              <a:buNone/>
            </a:pPr>
            <a:r>
              <a:t/>
            </a:r>
            <a:endParaRPr b="1" sz="1800">
              <a:solidFill>
                <a:schemeClr val="dk2"/>
              </a:solidFill>
            </a:endParaRPr>
          </a:p>
        </p:txBody>
      </p:sp>
      <p:sp>
        <p:nvSpPr>
          <p:cNvPr id="142" name="Google Shape;142;p15"/>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De acuerdo a la Encuesta de Balance de Fin de Año 2025 elaborado por Ipsos Apoyo, los dos principales eventos o sucesos del año para el Perú en términos negativos están relacionados a la </a:t>
            </a:r>
            <a:r>
              <a:rPr lang="es"/>
              <a:t>criminalidad</a:t>
            </a:r>
            <a:r>
              <a:rPr lang="es"/>
              <a:t>:</a:t>
            </a:r>
            <a:endParaRPr/>
          </a:p>
        </p:txBody>
      </p:sp>
      <p:pic>
        <p:nvPicPr>
          <p:cNvPr id="143" name="Google Shape;143;p15"/>
          <p:cNvPicPr preferRelativeResize="0"/>
          <p:nvPr/>
        </p:nvPicPr>
        <p:blipFill>
          <a:blip r:embed="rId3">
            <a:alphaModFix/>
          </a:blip>
          <a:stretch>
            <a:fillRect/>
          </a:stretch>
        </p:blipFill>
        <p:spPr>
          <a:xfrm>
            <a:off x="1003450" y="1611250"/>
            <a:ext cx="7137102" cy="2896975"/>
          </a:xfrm>
          <a:prstGeom prst="rect">
            <a:avLst/>
          </a:prstGeom>
          <a:noFill/>
          <a:ln>
            <a:noFill/>
          </a:ln>
        </p:spPr>
      </p:pic>
      <p:sp>
        <p:nvSpPr>
          <p:cNvPr id="144" name="Google Shape;144;p15"/>
          <p:cNvSpPr txBox="1"/>
          <p:nvPr/>
        </p:nvSpPr>
        <p:spPr>
          <a:xfrm>
            <a:off x="472075" y="310025"/>
            <a:ext cx="2289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FF0000"/>
                </a:solidFill>
                <a:latin typeface="Calibri"/>
                <a:ea typeface="Calibri"/>
                <a:cs typeface="Calibri"/>
                <a:sym typeface="Calibri"/>
              </a:rPr>
              <a:t>Christian</a:t>
            </a:r>
            <a:endParaRPr b="1" sz="1800">
              <a:solidFill>
                <a:srgbClr val="FF0000"/>
              </a:solidFill>
              <a:latin typeface="Calibri"/>
              <a:ea typeface="Calibri"/>
              <a:cs typeface="Calibri"/>
              <a:sym typeface="Calibri"/>
            </a:endParaRPr>
          </a:p>
        </p:txBody>
      </p:sp>
      <p:sp>
        <p:nvSpPr>
          <p:cNvPr id="145" name="Google Shape;145;p15"/>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16"/>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Evolución </a:t>
            </a:r>
            <a:r>
              <a:rPr b="1" lang="es" sz="1800"/>
              <a:t>de la criminalidad</a:t>
            </a:r>
            <a:endParaRPr b="1" sz="1800"/>
          </a:p>
          <a:p>
            <a:pPr indent="0" lvl="0" marL="0" rtl="0" algn="l">
              <a:spcBef>
                <a:spcPts val="0"/>
              </a:spcBef>
              <a:spcAft>
                <a:spcPts val="0"/>
              </a:spcAft>
              <a:buNone/>
            </a:pPr>
            <a:r>
              <a:t/>
            </a:r>
            <a:endParaRPr b="1" sz="1800">
              <a:solidFill>
                <a:schemeClr val="dk2"/>
              </a:solidFill>
            </a:endParaRPr>
          </a:p>
        </p:txBody>
      </p:sp>
      <p:sp>
        <p:nvSpPr>
          <p:cNvPr id="151" name="Google Shape;151;p16"/>
          <p:cNvSpPr txBox="1"/>
          <p:nvPr/>
        </p:nvSpPr>
        <p:spPr>
          <a:xfrm>
            <a:off x="426075" y="715450"/>
            <a:ext cx="81309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No obstante, el aumento de la percepción de la criminalidad tiene su correlato en datos. Para ello, se considera como una variable para medir la criminalidad las denuncias policiales. El gráfico muestra que un aumento de las denuncias policiales a partir del 2020 hasta 2023, no obstante, se muestra una disminución en los siguientes dos años. Entonces, ¿el aumento de la percepción de la criminalidad no tiene ningún asidero?</a:t>
            </a:r>
            <a:endParaRPr/>
          </a:p>
        </p:txBody>
      </p:sp>
      <p:pic>
        <p:nvPicPr>
          <p:cNvPr id="152" name="Google Shape;152;p16"/>
          <p:cNvPicPr preferRelativeResize="0"/>
          <p:nvPr/>
        </p:nvPicPr>
        <p:blipFill>
          <a:blip r:embed="rId3">
            <a:alphaModFix/>
          </a:blip>
          <a:stretch>
            <a:fillRect/>
          </a:stretch>
        </p:blipFill>
        <p:spPr>
          <a:xfrm>
            <a:off x="1930775" y="2200675"/>
            <a:ext cx="5121500" cy="2307550"/>
          </a:xfrm>
          <a:prstGeom prst="rect">
            <a:avLst/>
          </a:prstGeom>
          <a:noFill/>
          <a:ln>
            <a:noFill/>
          </a:ln>
        </p:spPr>
      </p:pic>
      <p:sp>
        <p:nvSpPr>
          <p:cNvPr id="153" name="Google Shape;153;p16"/>
          <p:cNvSpPr txBox="1"/>
          <p:nvPr/>
        </p:nvSpPr>
        <p:spPr>
          <a:xfrm>
            <a:off x="472075" y="310025"/>
            <a:ext cx="2289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FF0000"/>
                </a:solidFill>
                <a:latin typeface="Calibri"/>
                <a:ea typeface="Calibri"/>
                <a:cs typeface="Calibri"/>
                <a:sym typeface="Calibri"/>
              </a:rPr>
              <a:t>Christian</a:t>
            </a:r>
            <a:endParaRPr b="1" sz="1800">
              <a:solidFill>
                <a:srgbClr val="FF0000"/>
              </a:solidFill>
              <a:latin typeface="Calibri"/>
              <a:ea typeface="Calibri"/>
              <a:cs typeface="Calibri"/>
              <a:sym typeface="Calibri"/>
            </a:endParaRPr>
          </a:p>
        </p:txBody>
      </p:sp>
      <p:sp>
        <p:nvSpPr>
          <p:cNvPr id="154" name="Google Shape;154;p16"/>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17"/>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Recrudecimiento</a:t>
            </a:r>
            <a:r>
              <a:rPr b="1" lang="es" sz="1800"/>
              <a:t> de la criminalidad</a:t>
            </a:r>
            <a:endParaRPr b="1" sz="1800"/>
          </a:p>
          <a:p>
            <a:pPr indent="0" lvl="0" marL="0" rtl="0" algn="l">
              <a:spcBef>
                <a:spcPts val="0"/>
              </a:spcBef>
              <a:spcAft>
                <a:spcPts val="0"/>
              </a:spcAft>
              <a:buNone/>
            </a:pPr>
            <a:r>
              <a:t/>
            </a:r>
            <a:endParaRPr b="1" sz="1800">
              <a:solidFill>
                <a:schemeClr val="dk2"/>
              </a:solidFill>
            </a:endParaRPr>
          </a:p>
        </p:txBody>
      </p:sp>
      <p:sp>
        <p:nvSpPr>
          <p:cNvPr id="160" name="Google Shape;160;p17"/>
          <p:cNvSpPr txBox="1"/>
          <p:nvPr/>
        </p:nvSpPr>
        <p:spPr>
          <a:xfrm>
            <a:off x="426075" y="715450"/>
            <a:ext cx="8130900" cy="13914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A pesar que se observa una disminución en las denuncias policiales los últimos dos años, los dos peores tipos de crímenes que son homicidio y extorsión aumentaron desde las 1,076 y 3,225 denuncias en el 2018 hasta las 2,706 y 26,748 denuncias en el 2015, siendo la tasa de crecimiento anual 6% y 33%, respectivamente. Pero, ¿este aumento sucedió de manera proporcional en todo el país o en unas zonas más que otras?</a:t>
            </a:r>
            <a:endParaRPr/>
          </a:p>
        </p:txBody>
      </p:sp>
      <p:pic>
        <p:nvPicPr>
          <p:cNvPr id="161" name="Google Shape;161;p17"/>
          <p:cNvPicPr preferRelativeResize="0"/>
          <p:nvPr/>
        </p:nvPicPr>
        <p:blipFill>
          <a:blip r:embed="rId3">
            <a:alphaModFix/>
          </a:blip>
          <a:stretch>
            <a:fillRect/>
          </a:stretch>
        </p:blipFill>
        <p:spPr>
          <a:xfrm>
            <a:off x="426075" y="2341575"/>
            <a:ext cx="4056300" cy="2237375"/>
          </a:xfrm>
          <a:prstGeom prst="rect">
            <a:avLst/>
          </a:prstGeom>
          <a:noFill/>
          <a:ln>
            <a:noFill/>
          </a:ln>
        </p:spPr>
      </p:pic>
      <p:pic>
        <p:nvPicPr>
          <p:cNvPr id="162" name="Google Shape;162;p17"/>
          <p:cNvPicPr preferRelativeResize="0"/>
          <p:nvPr/>
        </p:nvPicPr>
        <p:blipFill>
          <a:blip r:embed="rId4">
            <a:alphaModFix/>
          </a:blip>
          <a:stretch>
            <a:fillRect/>
          </a:stretch>
        </p:blipFill>
        <p:spPr>
          <a:xfrm>
            <a:off x="4793550" y="2341575"/>
            <a:ext cx="4056299" cy="2200675"/>
          </a:xfrm>
          <a:prstGeom prst="rect">
            <a:avLst/>
          </a:prstGeom>
          <a:noFill/>
          <a:ln>
            <a:noFill/>
          </a:ln>
        </p:spPr>
      </p:pic>
      <p:sp>
        <p:nvSpPr>
          <p:cNvPr id="163" name="Google Shape;163;p17"/>
          <p:cNvSpPr txBox="1"/>
          <p:nvPr/>
        </p:nvSpPr>
        <p:spPr>
          <a:xfrm>
            <a:off x="472075" y="310025"/>
            <a:ext cx="2289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FF0000"/>
                </a:solidFill>
                <a:latin typeface="Calibri"/>
                <a:ea typeface="Calibri"/>
                <a:cs typeface="Calibri"/>
                <a:sym typeface="Calibri"/>
              </a:rPr>
              <a:t>Christian</a:t>
            </a:r>
            <a:endParaRPr b="1" sz="1800">
              <a:solidFill>
                <a:srgbClr val="FF0000"/>
              </a:solidFill>
              <a:latin typeface="Calibri"/>
              <a:ea typeface="Calibri"/>
              <a:cs typeface="Calibri"/>
              <a:sym typeface="Calibri"/>
            </a:endParaRPr>
          </a:p>
        </p:txBody>
      </p:sp>
      <p:sp>
        <p:nvSpPr>
          <p:cNvPr id="164" name="Google Shape;164;p17"/>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p18"/>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170" name="Google Shape;170;p18"/>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La criminalidad aumentó en todos el país, no obstante, se observa que las extorsiones y homicidios tienen una tendencia creciente en el departamento de Lima - zona del país con mayor índice de criminalidad - seguidamente de la Zona Norte en el caso de las extorsiones.</a:t>
            </a:r>
            <a:endParaRPr/>
          </a:p>
        </p:txBody>
      </p:sp>
      <p:sp>
        <p:nvSpPr>
          <p:cNvPr id="171" name="Google Shape;171;p18"/>
          <p:cNvSpPr txBox="1"/>
          <p:nvPr/>
        </p:nvSpPr>
        <p:spPr>
          <a:xfrm>
            <a:off x="178500" y="210725"/>
            <a:ext cx="2289900" cy="30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s" sz="1800">
                <a:solidFill>
                  <a:srgbClr val="FF0000"/>
                </a:solidFill>
                <a:latin typeface="Calibri"/>
                <a:ea typeface="Calibri"/>
                <a:cs typeface="Calibri"/>
                <a:sym typeface="Calibri"/>
              </a:rPr>
              <a:t>Christian | Gianella</a:t>
            </a:r>
            <a:endParaRPr b="1" sz="1800">
              <a:solidFill>
                <a:srgbClr val="FF0000"/>
              </a:solidFill>
              <a:latin typeface="Calibri"/>
              <a:ea typeface="Calibri"/>
              <a:cs typeface="Calibri"/>
              <a:sym typeface="Calibri"/>
            </a:endParaRPr>
          </a:p>
        </p:txBody>
      </p:sp>
      <p:pic>
        <p:nvPicPr>
          <p:cNvPr id="172" name="Google Shape;172;p18"/>
          <p:cNvPicPr preferRelativeResize="0"/>
          <p:nvPr/>
        </p:nvPicPr>
        <p:blipFill>
          <a:blip r:embed="rId3">
            <a:alphaModFix/>
          </a:blip>
          <a:stretch>
            <a:fillRect/>
          </a:stretch>
        </p:blipFill>
        <p:spPr>
          <a:xfrm>
            <a:off x="554300" y="1942325"/>
            <a:ext cx="4168674" cy="2501200"/>
          </a:xfrm>
          <a:prstGeom prst="rect">
            <a:avLst/>
          </a:prstGeom>
          <a:noFill/>
          <a:ln>
            <a:noFill/>
          </a:ln>
        </p:spPr>
      </p:pic>
      <p:pic>
        <p:nvPicPr>
          <p:cNvPr id="173" name="Google Shape;173;p18"/>
          <p:cNvPicPr preferRelativeResize="0"/>
          <p:nvPr/>
        </p:nvPicPr>
        <p:blipFill>
          <a:blip r:embed="rId4">
            <a:alphaModFix/>
          </a:blip>
          <a:stretch>
            <a:fillRect/>
          </a:stretch>
        </p:blipFill>
        <p:spPr>
          <a:xfrm>
            <a:off x="4722975" y="1942325"/>
            <a:ext cx="4168674" cy="2501200"/>
          </a:xfrm>
          <a:prstGeom prst="rect">
            <a:avLst/>
          </a:prstGeom>
          <a:noFill/>
          <a:ln>
            <a:noFill/>
          </a:ln>
        </p:spPr>
      </p:pic>
      <p:sp>
        <p:nvSpPr>
          <p:cNvPr id="174" name="Google Shape;174;p18"/>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19"/>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180" name="Google Shape;180;p19"/>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Se observa que la el mayor porcentaje de extorsiones es la zona de LIMA, ZONA NORTE con 50.7% y 37.5% respectivamente. no obstante, se observa por la parte de </a:t>
            </a:r>
            <a:r>
              <a:rPr lang="es"/>
              <a:t>homicidios LIMA, ZONA NORTE con 53.4% y 20.4% respectivamente en el año 2025.</a:t>
            </a:r>
            <a:endParaRPr/>
          </a:p>
        </p:txBody>
      </p:sp>
      <p:pic>
        <p:nvPicPr>
          <p:cNvPr id="181" name="Google Shape;181;p19"/>
          <p:cNvPicPr preferRelativeResize="0"/>
          <p:nvPr/>
        </p:nvPicPr>
        <p:blipFill>
          <a:blip r:embed="rId3">
            <a:alphaModFix/>
          </a:blip>
          <a:stretch>
            <a:fillRect/>
          </a:stretch>
        </p:blipFill>
        <p:spPr>
          <a:xfrm>
            <a:off x="649850" y="1866324"/>
            <a:ext cx="3800051" cy="1903225"/>
          </a:xfrm>
          <a:prstGeom prst="rect">
            <a:avLst/>
          </a:prstGeom>
          <a:noFill/>
          <a:ln>
            <a:noFill/>
          </a:ln>
        </p:spPr>
      </p:pic>
      <p:pic>
        <p:nvPicPr>
          <p:cNvPr id="182" name="Google Shape;182;p19"/>
          <p:cNvPicPr preferRelativeResize="0"/>
          <p:nvPr/>
        </p:nvPicPr>
        <p:blipFill>
          <a:blip r:embed="rId4">
            <a:alphaModFix/>
          </a:blip>
          <a:stretch>
            <a:fillRect/>
          </a:stretch>
        </p:blipFill>
        <p:spPr>
          <a:xfrm>
            <a:off x="4628325" y="1859915"/>
            <a:ext cx="3800051" cy="1909647"/>
          </a:xfrm>
          <a:prstGeom prst="rect">
            <a:avLst/>
          </a:prstGeom>
          <a:noFill/>
          <a:ln>
            <a:noFill/>
          </a:ln>
        </p:spPr>
      </p:pic>
      <p:sp>
        <p:nvSpPr>
          <p:cNvPr id="183" name="Google Shape;183;p19"/>
          <p:cNvSpPr txBox="1"/>
          <p:nvPr/>
        </p:nvSpPr>
        <p:spPr>
          <a:xfrm>
            <a:off x="649850" y="4092275"/>
            <a:ext cx="3762600" cy="4494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
        <p:nvSpPr>
          <p:cNvPr id="184" name="Google Shape;184;p19"/>
          <p:cNvSpPr txBox="1"/>
          <p:nvPr/>
        </p:nvSpPr>
        <p:spPr>
          <a:xfrm>
            <a:off x="4572000" y="4094495"/>
            <a:ext cx="3762600" cy="4494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0"/>
          <p:cNvSpPr txBox="1"/>
          <p:nvPr>
            <p:ph type="title"/>
          </p:nvPr>
        </p:nvSpPr>
        <p:spPr>
          <a:xfrm>
            <a:off x="895125" y="6908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s" sz="1100">
                <a:solidFill>
                  <a:srgbClr val="000000"/>
                </a:solidFill>
                <a:latin typeface="Arial"/>
                <a:ea typeface="Arial"/>
                <a:cs typeface="Arial"/>
                <a:sym typeface="Arial"/>
              </a:rPr>
              <a:t>En los años más recientes, destacan Lima Metropolitana y la costa norte del país</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principalmente La</a:t>
            </a:r>
            <a:r>
              <a:rPr b="1" lang="es" sz="1100">
                <a:solidFill>
                  <a:srgbClr val="000000"/>
                </a:solidFill>
                <a:latin typeface="Arial"/>
                <a:ea typeface="Arial"/>
                <a:cs typeface="Arial"/>
                <a:sym typeface="Arial"/>
              </a:rPr>
              <a:t> </a:t>
            </a:r>
            <a:r>
              <a:rPr lang="es" sz="1100">
                <a:solidFill>
                  <a:srgbClr val="000000"/>
                </a:solidFill>
                <a:latin typeface="Arial"/>
                <a:ea typeface="Arial"/>
                <a:cs typeface="Arial"/>
                <a:sym typeface="Arial"/>
              </a:rPr>
              <a:t>Libertad y Piura</a:t>
            </a:r>
            <a:r>
              <a:rPr lang="es" sz="1100">
                <a:solidFill>
                  <a:srgbClr val="000000"/>
                </a:solidFill>
                <a:latin typeface="Arial"/>
                <a:ea typeface="Arial"/>
                <a:cs typeface="Arial"/>
                <a:sym typeface="Arial"/>
              </a:rPr>
              <a:t>, donde la intensidad del color refleja un incremento significativo en el número de denuncias. Este comportamiento sugiere una expansión del delito hacia zonas urbanas y económicamente dinámicas, consolidando focos críticos de extorsión.</a:t>
            </a:r>
            <a:endParaRPr/>
          </a:p>
        </p:txBody>
      </p:sp>
      <p:pic>
        <p:nvPicPr>
          <p:cNvPr id="190" name="Google Shape;190;p20"/>
          <p:cNvPicPr preferRelativeResize="0"/>
          <p:nvPr/>
        </p:nvPicPr>
        <p:blipFill>
          <a:blip r:embed="rId3">
            <a:alphaModFix/>
          </a:blip>
          <a:stretch>
            <a:fillRect/>
          </a:stretch>
        </p:blipFill>
        <p:spPr>
          <a:xfrm>
            <a:off x="2043101" y="1418725"/>
            <a:ext cx="6357726" cy="3226451"/>
          </a:xfrm>
          <a:prstGeom prst="rect">
            <a:avLst/>
          </a:prstGeom>
          <a:noFill/>
          <a:ln>
            <a:noFill/>
          </a:ln>
        </p:spPr>
      </p:pic>
      <p:sp>
        <p:nvSpPr>
          <p:cNvPr id="191" name="Google Shape;191;p20"/>
          <p:cNvSpPr txBox="1"/>
          <p:nvPr/>
        </p:nvSpPr>
        <p:spPr>
          <a:xfrm>
            <a:off x="867000" y="234200"/>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192" name="Google Shape;192;p20"/>
          <p:cNvSpPr txBox="1"/>
          <p:nvPr/>
        </p:nvSpPr>
        <p:spPr>
          <a:xfrm>
            <a:off x="3152113" y="4567593"/>
            <a:ext cx="4139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
        <p:nvSpPr>
          <p:cNvPr id="193" name="Google Shape;193;p20"/>
          <p:cNvSpPr txBox="1"/>
          <p:nvPr/>
        </p:nvSpPr>
        <p:spPr>
          <a:xfrm>
            <a:off x="413350" y="1742675"/>
            <a:ext cx="1221300" cy="2736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900"/>
              <a:t>Extorsión: </a:t>
            </a:r>
            <a:r>
              <a:rPr lang="es" sz="900" u="sng">
                <a:solidFill>
                  <a:schemeClr val="hlink"/>
                </a:solidFill>
                <a:hlinkClick r:id="rId4"/>
              </a:rPr>
              <a:t>https://gforttini97.github.io/GRUPO3-MDS-VISUALIZACION-TRABAJO-FINAL/mapas/mapa_extorsion_peru_provincias.html</a:t>
            </a:r>
            <a:r>
              <a:rPr lang="es" sz="900"/>
              <a:t> </a:t>
            </a:r>
            <a:endParaRPr sz="900"/>
          </a:p>
          <a:p>
            <a:pPr indent="0" lvl="0" marL="0" rtl="0" algn="ctr">
              <a:spcBef>
                <a:spcPts val="0"/>
              </a:spcBef>
              <a:spcAft>
                <a:spcPts val="0"/>
              </a:spcAft>
              <a:buNone/>
            </a:pPr>
            <a:br>
              <a:rPr lang="es" sz="900"/>
            </a:br>
            <a:r>
              <a:rPr b="1" lang="es" sz="900"/>
              <a:t>Homocidio:</a:t>
            </a:r>
            <a:r>
              <a:rPr lang="es" sz="900"/>
              <a:t> </a:t>
            </a:r>
            <a:r>
              <a:rPr lang="es" sz="900" u="sng">
                <a:solidFill>
                  <a:schemeClr val="hlink"/>
                </a:solidFill>
                <a:hlinkClick r:id="rId5"/>
              </a:rPr>
              <a:t>https://gforttini97.github.io/GRUPO3-MDS-VISUALIZACION-TRABAJO-FINAL/mapas/mapa_homicidio_peru_provincias.html</a:t>
            </a:r>
            <a:r>
              <a:rPr lang="es" sz="900"/>
              <a:t> </a:t>
            </a:r>
            <a:endParaRPr sz="900"/>
          </a:p>
          <a:p>
            <a:pPr indent="0" lvl="0" marL="0" rtl="0" algn="ctr">
              <a:spcBef>
                <a:spcPts val="0"/>
              </a:spcBef>
              <a:spcAft>
                <a:spcPts val="0"/>
              </a:spcAft>
              <a:buNone/>
            </a:pPr>
            <a:r>
              <a:t/>
            </a:r>
            <a:endParaRPr>
              <a:solidFill>
                <a:schemeClr val="dk2"/>
              </a:solidFill>
              <a:latin typeface="Calibri"/>
              <a:ea typeface="Calibri"/>
              <a:cs typeface="Calibri"/>
              <a:sym typeface="Calibri"/>
            </a:endParaRPr>
          </a:p>
        </p:txBody>
      </p:sp>
      <p:sp>
        <p:nvSpPr>
          <p:cNvPr id="194" name="Google Shape;194;p20"/>
          <p:cNvSpPr/>
          <p:nvPr/>
        </p:nvSpPr>
        <p:spPr>
          <a:xfrm>
            <a:off x="1821325" y="1634550"/>
            <a:ext cx="35100" cy="2794800"/>
          </a:xfrm>
          <a:prstGeom prst="rect">
            <a:avLst/>
          </a:prstGeom>
          <a:solidFill>
            <a:schemeClr val="dk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21"/>
          <p:cNvSpPr txBox="1"/>
          <p:nvPr>
            <p:ph type="title"/>
          </p:nvPr>
        </p:nvSpPr>
        <p:spPr>
          <a:xfrm>
            <a:off x="895125" y="690825"/>
            <a:ext cx="7505700" cy="9546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es" sz="1100">
                <a:solidFill>
                  <a:srgbClr val="000000"/>
                </a:solidFill>
                <a:latin typeface="Arial"/>
                <a:ea typeface="Arial"/>
                <a:cs typeface="Arial"/>
                <a:sym typeface="Arial"/>
              </a:rPr>
              <a:t>En 2018, la extorsión se concentraba en un número reducido de distritos específicos de la ciudad. Sin embargo, con el paso de los años, el delito no solo aumentó en intensidad, sino que también se expandió territorialmente. Para 2025, la presencia de casos se ha extendido a la mayoría de distritos de Lima Metropolitana y Callao, evidenciando un proceso de difusión del delito dentro del espacio urbano.</a:t>
            </a:r>
            <a:endParaRPr sz="1100">
              <a:solidFill>
                <a:srgbClr val="000000"/>
              </a:solidFill>
              <a:latin typeface="Arial"/>
              <a:ea typeface="Arial"/>
              <a:cs typeface="Arial"/>
              <a:sym typeface="Arial"/>
            </a:endParaRPr>
          </a:p>
          <a:p>
            <a:pPr indent="0" lvl="0" marL="0" rtl="0" algn="l">
              <a:spcBef>
                <a:spcPts val="1200"/>
              </a:spcBef>
              <a:spcAft>
                <a:spcPts val="0"/>
              </a:spcAft>
              <a:buNone/>
            </a:pPr>
            <a:r>
              <a:t/>
            </a:r>
            <a:endParaRPr sz="1100">
              <a:solidFill>
                <a:srgbClr val="000000"/>
              </a:solidFill>
              <a:latin typeface="Arial"/>
              <a:ea typeface="Arial"/>
              <a:cs typeface="Arial"/>
              <a:sym typeface="Arial"/>
            </a:endParaRPr>
          </a:p>
        </p:txBody>
      </p:sp>
      <p:sp>
        <p:nvSpPr>
          <p:cNvPr id="200" name="Google Shape;200;p21"/>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 en Lima</a:t>
            </a:r>
            <a:endParaRPr b="1" sz="1800"/>
          </a:p>
          <a:p>
            <a:pPr indent="0" lvl="0" marL="0" rtl="0" algn="l">
              <a:spcBef>
                <a:spcPts val="0"/>
              </a:spcBef>
              <a:spcAft>
                <a:spcPts val="0"/>
              </a:spcAft>
              <a:buNone/>
            </a:pPr>
            <a:r>
              <a:t/>
            </a:r>
            <a:endParaRPr b="1" sz="1800">
              <a:solidFill>
                <a:schemeClr val="dk2"/>
              </a:solidFill>
            </a:endParaRPr>
          </a:p>
        </p:txBody>
      </p:sp>
      <p:pic>
        <p:nvPicPr>
          <p:cNvPr id="201" name="Google Shape;201;p21"/>
          <p:cNvPicPr preferRelativeResize="0"/>
          <p:nvPr/>
        </p:nvPicPr>
        <p:blipFill>
          <a:blip r:embed="rId3">
            <a:alphaModFix/>
          </a:blip>
          <a:stretch>
            <a:fillRect/>
          </a:stretch>
        </p:blipFill>
        <p:spPr>
          <a:xfrm>
            <a:off x="1391900" y="1481400"/>
            <a:ext cx="6512174" cy="3193274"/>
          </a:xfrm>
          <a:prstGeom prst="rect">
            <a:avLst/>
          </a:prstGeom>
          <a:noFill/>
          <a:ln>
            <a:noFill/>
          </a:ln>
        </p:spPr>
      </p:pic>
      <p:sp>
        <p:nvSpPr>
          <p:cNvPr id="202" name="Google Shape;202;p21"/>
          <p:cNvSpPr txBox="1"/>
          <p:nvPr/>
        </p:nvSpPr>
        <p:spPr>
          <a:xfrm>
            <a:off x="2798500" y="4585300"/>
            <a:ext cx="41397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2"/>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Focalización geográfica de la criminalidad</a:t>
            </a:r>
            <a:endParaRPr b="1" sz="1800"/>
          </a:p>
          <a:p>
            <a:pPr indent="0" lvl="0" marL="0" rtl="0" algn="l">
              <a:spcBef>
                <a:spcPts val="0"/>
              </a:spcBef>
              <a:spcAft>
                <a:spcPts val="0"/>
              </a:spcAft>
              <a:buNone/>
            </a:pPr>
            <a:r>
              <a:t/>
            </a:r>
            <a:endParaRPr b="1" sz="1800">
              <a:solidFill>
                <a:schemeClr val="dk2"/>
              </a:solidFill>
            </a:endParaRPr>
          </a:p>
        </p:txBody>
      </p:sp>
      <p:sp>
        <p:nvSpPr>
          <p:cNvPr id="208" name="Google Shape;208;p22"/>
          <p:cNvSpPr txBox="1"/>
          <p:nvPr/>
        </p:nvSpPr>
        <p:spPr>
          <a:xfrm>
            <a:off x="426075" y="715450"/>
            <a:ext cx="8130900" cy="8958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De los 1,891 distritos que hay en el Perú, en 10 se concentró el 34.57% de las extorsiones (9,248 denuncias), y el 31.37% de los homicidios (849 denuncias) en el año 2025. Por lo tanto, se debería enfocar los patrones de criminalidad en estos distritos, seis de ellos aparecen en ambos rankings</a:t>
            </a:r>
            <a:endParaRPr/>
          </a:p>
        </p:txBody>
      </p:sp>
      <p:pic>
        <p:nvPicPr>
          <p:cNvPr id="209" name="Google Shape;209;p22"/>
          <p:cNvPicPr preferRelativeResize="0"/>
          <p:nvPr/>
        </p:nvPicPr>
        <p:blipFill>
          <a:blip r:embed="rId3">
            <a:alphaModFix/>
          </a:blip>
          <a:stretch>
            <a:fillRect/>
          </a:stretch>
        </p:blipFill>
        <p:spPr>
          <a:xfrm>
            <a:off x="516425" y="1763900"/>
            <a:ext cx="4288059" cy="2928550"/>
          </a:xfrm>
          <a:prstGeom prst="rect">
            <a:avLst/>
          </a:prstGeom>
          <a:noFill/>
          <a:ln>
            <a:noFill/>
          </a:ln>
        </p:spPr>
      </p:pic>
      <p:pic>
        <p:nvPicPr>
          <p:cNvPr id="210" name="Google Shape;210;p22"/>
          <p:cNvPicPr preferRelativeResize="0"/>
          <p:nvPr/>
        </p:nvPicPr>
        <p:blipFill>
          <a:blip r:embed="rId4">
            <a:alphaModFix/>
          </a:blip>
          <a:stretch>
            <a:fillRect/>
          </a:stretch>
        </p:blipFill>
        <p:spPr>
          <a:xfrm>
            <a:off x="4510875" y="1793125"/>
            <a:ext cx="4202475" cy="2870100"/>
          </a:xfrm>
          <a:prstGeom prst="rect">
            <a:avLst/>
          </a:prstGeom>
          <a:noFill/>
          <a:ln>
            <a:noFill/>
          </a:ln>
        </p:spPr>
      </p:pic>
      <p:sp>
        <p:nvSpPr>
          <p:cNvPr id="211" name="Google Shape;211;p22"/>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Denuncias policiales (2018 al 2025) - Plataforma Nacional de Datos Abiertos</a:t>
            </a:r>
            <a:endParaRPr sz="8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3"/>
          <p:cNvSpPr txBox="1"/>
          <p:nvPr/>
        </p:nvSpPr>
        <p:spPr>
          <a:xfrm>
            <a:off x="786525" y="2107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Políticas de Gobierno: Presencia Policial</a:t>
            </a:r>
            <a:endParaRPr b="1" sz="1800"/>
          </a:p>
          <a:p>
            <a:pPr indent="0" lvl="0" marL="0" rtl="0" algn="l">
              <a:spcBef>
                <a:spcPts val="0"/>
              </a:spcBef>
              <a:spcAft>
                <a:spcPts val="0"/>
              </a:spcAft>
              <a:buNone/>
            </a:pPr>
            <a:r>
              <a:t/>
            </a:r>
            <a:endParaRPr b="1" sz="1800">
              <a:solidFill>
                <a:schemeClr val="dk2"/>
              </a:solidFill>
            </a:endParaRPr>
          </a:p>
        </p:txBody>
      </p:sp>
      <p:sp>
        <p:nvSpPr>
          <p:cNvPr id="217" name="Google Shape;217;p23"/>
          <p:cNvSpPr txBox="1"/>
          <p:nvPr/>
        </p:nvSpPr>
        <p:spPr>
          <a:xfrm>
            <a:off x="426075" y="715450"/>
            <a:ext cx="8130900" cy="6480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1200"/>
              </a:spcAft>
              <a:buNone/>
            </a:pPr>
            <a:r>
              <a:rPr lang="es"/>
              <a:t>Los seis distritos más violentos no sólo se ubican entre los 20 distritos más poblados, sino que tres de ellos cuentan con presencia policial menor al promedio.</a:t>
            </a:r>
            <a:endParaRPr/>
          </a:p>
        </p:txBody>
      </p:sp>
      <p:pic>
        <p:nvPicPr>
          <p:cNvPr id="218" name="Google Shape;218;p23"/>
          <p:cNvPicPr preferRelativeResize="0"/>
          <p:nvPr/>
        </p:nvPicPr>
        <p:blipFill>
          <a:blip r:embed="rId3">
            <a:alphaModFix/>
          </a:blip>
          <a:stretch>
            <a:fillRect/>
          </a:stretch>
        </p:blipFill>
        <p:spPr>
          <a:xfrm>
            <a:off x="515700" y="1906025"/>
            <a:ext cx="4056299" cy="2684406"/>
          </a:xfrm>
          <a:prstGeom prst="rect">
            <a:avLst/>
          </a:prstGeom>
          <a:noFill/>
          <a:ln>
            <a:noFill/>
          </a:ln>
        </p:spPr>
      </p:pic>
      <p:sp>
        <p:nvSpPr>
          <p:cNvPr id="219" name="Google Shape;219;p23"/>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Base de datos de personal policial; Censo Nacional 2017</a:t>
            </a:r>
            <a:endParaRPr sz="800"/>
          </a:p>
        </p:txBody>
      </p:sp>
      <p:pic>
        <p:nvPicPr>
          <p:cNvPr id="220" name="Google Shape;220;p23"/>
          <p:cNvPicPr preferRelativeResize="0"/>
          <p:nvPr/>
        </p:nvPicPr>
        <p:blipFill>
          <a:blip r:embed="rId4">
            <a:alphaModFix/>
          </a:blip>
          <a:stretch>
            <a:fillRect/>
          </a:stretch>
        </p:blipFill>
        <p:spPr>
          <a:xfrm>
            <a:off x="4227765" y="1806901"/>
            <a:ext cx="4633011" cy="278352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24"/>
          <p:cNvSpPr txBox="1"/>
          <p:nvPr/>
        </p:nvSpPr>
        <p:spPr>
          <a:xfrm>
            <a:off x="786525" y="457325"/>
            <a:ext cx="7410000" cy="522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s" sz="1800"/>
              <a:t>Referencias</a:t>
            </a:r>
            <a:endParaRPr b="1" sz="1800"/>
          </a:p>
          <a:p>
            <a:pPr indent="0" lvl="0" marL="0" rtl="0" algn="l">
              <a:spcBef>
                <a:spcPts val="0"/>
              </a:spcBef>
              <a:spcAft>
                <a:spcPts val="0"/>
              </a:spcAft>
              <a:buNone/>
            </a:pPr>
            <a:r>
              <a:t/>
            </a:r>
            <a:endParaRPr b="1" sz="1800">
              <a:solidFill>
                <a:schemeClr val="dk2"/>
              </a:solidFill>
            </a:endParaRPr>
          </a:p>
        </p:txBody>
      </p:sp>
      <p:sp>
        <p:nvSpPr>
          <p:cNvPr id="226" name="Google Shape;226;p24"/>
          <p:cNvSpPr txBox="1"/>
          <p:nvPr/>
        </p:nvSpPr>
        <p:spPr>
          <a:xfrm>
            <a:off x="426075" y="1208650"/>
            <a:ext cx="8130900" cy="1203600"/>
          </a:xfrm>
          <a:prstGeom prst="rect">
            <a:avLst/>
          </a:prstGeom>
          <a:noFill/>
          <a:ln>
            <a:noFill/>
          </a:ln>
        </p:spPr>
        <p:txBody>
          <a:bodyPr anchorCtr="0" anchor="t" bIns="91425" lIns="91425" spcFirstLastPara="1" rIns="91425" wrap="square" tIns="91425">
            <a:spAutoFit/>
          </a:bodyPr>
          <a:lstStyle/>
          <a:p>
            <a:pPr indent="0" lvl="0" marL="0" rtl="0" algn="just">
              <a:lnSpc>
                <a:spcPct val="115000"/>
              </a:lnSpc>
              <a:spcBef>
                <a:spcPts val="1200"/>
              </a:spcBef>
              <a:spcAft>
                <a:spcPts val="0"/>
              </a:spcAft>
              <a:buNone/>
            </a:pPr>
            <a:r>
              <a:rPr lang="es"/>
              <a:t>En el siguiente enlace encontrará el repositorio con todo los archivos trabajados:</a:t>
            </a:r>
            <a:endParaRPr/>
          </a:p>
          <a:p>
            <a:pPr indent="0" lvl="0" marL="0" rtl="0" algn="just">
              <a:lnSpc>
                <a:spcPct val="115000"/>
              </a:lnSpc>
              <a:spcBef>
                <a:spcPts val="1200"/>
              </a:spcBef>
              <a:spcAft>
                <a:spcPts val="0"/>
              </a:spcAft>
              <a:buNone/>
            </a:pPr>
            <a:r>
              <a:t/>
            </a:r>
            <a:endParaRPr/>
          </a:p>
          <a:p>
            <a:pPr indent="0" lvl="0" marL="0" rtl="0" algn="just">
              <a:lnSpc>
                <a:spcPct val="115000"/>
              </a:lnSpc>
              <a:spcBef>
                <a:spcPts val="1200"/>
              </a:spcBef>
              <a:spcAft>
                <a:spcPts val="1200"/>
              </a:spcAft>
              <a:buNone/>
            </a:pPr>
            <a:r>
              <a:rPr lang="es" u="sng">
                <a:solidFill>
                  <a:schemeClr val="hlink"/>
                </a:solidFill>
                <a:hlinkClick r:id="rId3"/>
              </a:rPr>
              <a:t>https://github.com/gforttini97/GRUPO3-MDS-VISUALIZACION-TRABAJO-FINAL</a:t>
            </a:r>
            <a:r>
              <a:rPr lang="es"/>
              <a:t> </a:t>
            </a:r>
            <a:endParaRPr/>
          </a:p>
        </p:txBody>
      </p:sp>
      <p:sp>
        <p:nvSpPr>
          <p:cNvPr id="227" name="Google Shape;227;p24"/>
          <p:cNvSpPr txBox="1"/>
          <p:nvPr/>
        </p:nvSpPr>
        <p:spPr>
          <a:xfrm>
            <a:off x="4804475" y="4590425"/>
            <a:ext cx="4056300" cy="307800"/>
          </a:xfrm>
          <a:prstGeom prst="rect">
            <a:avLst/>
          </a:prstGeom>
          <a:noFill/>
          <a:ln>
            <a:noFill/>
          </a:ln>
        </p:spPr>
        <p:txBody>
          <a:bodyPr anchorCtr="0" anchor="t" bIns="91425" lIns="91425" spcFirstLastPara="1" rIns="91425" wrap="square" tIns="91425">
            <a:spAutoFit/>
          </a:bodyPr>
          <a:lstStyle/>
          <a:p>
            <a:pPr indent="0" lvl="0" marL="0" rtl="0" algn="r">
              <a:lnSpc>
                <a:spcPct val="115000"/>
              </a:lnSpc>
              <a:spcBef>
                <a:spcPts val="1200"/>
              </a:spcBef>
              <a:spcAft>
                <a:spcPts val="1200"/>
              </a:spcAft>
              <a:buNone/>
            </a:pPr>
            <a:r>
              <a:rPr lang="es" sz="800"/>
              <a:t>Fuente: Base de datos de personal policial; Censo Nacional 2017</a:t>
            </a:r>
            <a:endParaRPr sz="8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